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8288000" cy="10287000"/>
  <p:notesSz cx="6858000" cy="9144000"/>
  <p:embeddedFontLst>
    <p:embeddedFont>
      <p:font typeface="Fredoka" panose="020B0604020202020204" charset="0"/>
      <p:regular r:id="rId11"/>
    </p:embeddedFont>
    <p:embeddedFont>
      <p:font typeface="League Spartan" panose="020B0604020202020204" charset="0"/>
      <p:regular r:id="rId12"/>
    </p:embeddedFont>
    <p:embeddedFont>
      <p:font typeface="Montserrat" panose="00000500000000000000" pitchFamily="2" charset="0"/>
      <p:regular r:id="rId13"/>
    </p:embeddedFont>
    <p:embeddedFont>
      <p:font typeface="Montserrat Medium" panose="000006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7445" y="7974859"/>
            <a:ext cx="3050862" cy="1736218"/>
          </a:xfrm>
          <a:custGeom>
            <a:avLst/>
            <a:gdLst/>
            <a:ahLst/>
            <a:cxnLst/>
            <a:rect l="l" t="t" r="r" b="b"/>
            <a:pathLst>
              <a:path w="3050862" h="1736218">
                <a:moveTo>
                  <a:pt x="0" y="0"/>
                </a:moveTo>
                <a:lnTo>
                  <a:pt x="3050862" y="0"/>
                </a:lnTo>
                <a:lnTo>
                  <a:pt x="3050862" y="1736218"/>
                </a:lnTo>
                <a:lnTo>
                  <a:pt x="0" y="1736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02125" y="517652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3" y="0"/>
                </a:lnTo>
                <a:lnTo>
                  <a:pt x="1777053" y="1444597"/>
                </a:lnTo>
                <a:lnTo>
                  <a:pt x="0" y="14445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87885" y="1857474"/>
            <a:ext cx="9991293" cy="590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MEDPATHAI:</a:t>
            </a:r>
          </a:p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An Interpretable Diagnostic Agent with Multilingual and Voice-Enabled Input Using Chain-of-Diagnosis Framework</a:t>
            </a:r>
          </a:p>
        </p:txBody>
      </p:sp>
      <p:sp>
        <p:nvSpPr>
          <p:cNvPr id="5" name="Freeform 5"/>
          <p:cNvSpPr/>
          <p:nvPr/>
        </p:nvSpPr>
        <p:spPr>
          <a:xfrm>
            <a:off x="-1561007" y="2645542"/>
            <a:ext cx="8765360" cy="7882029"/>
          </a:xfrm>
          <a:custGeom>
            <a:avLst/>
            <a:gdLst/>
            <a:ahLst/>
            <a:cxnLst/>
            <a:rect l="l" t="t" r="r" b="b"/>
            <a:pathLst>
              <a:path w="8765360" h="7882029">
                <a:moveTo>
                  <a:pt x="0" y="0"/>
                </a:moveTo>
                <a:lnTo>
                  <a:pt x="8765360" y="0"/>
                </a:lnTo>
                <a:lnTo>
                  <a:pt x="8765360" y="7882029"/>
                </a:lnTo>
                <a:lnTo>
                  <a:pt x="0" y="7882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34157" y="5143500"/>
            <a:ext cx="4530637" cy="5719132"/>
          </a:xfrm>
          <a:custGeom>
            <a:avLst/>
            <a:gdLst/>
            <a:ahLst/>
            <a:cxnLst/>
            <a:rect l="l" t="t" r="r" b="b"/>
            <a:pathLst>
              <a:path w="4530637" h="5719132">
                <a:moveTo>
                  <a:pt x="0" y="0"/>
                </a:moveTo>
                <a:lnTo>
                  <a:pt x="4530638" y="0"/>
                </a:lnTo>
                <a:lnTo>
                  <a:pt x="4530638" y="5719132"/>
                </a:lnTo>
                <a:lnTo>
                  <a:pt x="0" y="5719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-155575"/>
            <a:ext cx="10529814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7468" y="1127125"/>
            <a:ext cx="14300673" cy="915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</a:t>
            </a:r>
            <a:r>
              <a:rPr lang="en-US" sz="20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MedPathAI: Enhancing Interpretable Diagnostics with Chain-of-Diagnosis (CoD)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Addressed (The Gap):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Traditional LLM diagnostics lack interpretability , rely heavily on synthetic data (synthetic-to-real gap) , and exclude users due to text-only interfaces and language barriers (modality/accessibility gap).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Solution: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MedPathAI is an enhanced diagnostic agent that grounds the original Chain-of-Diagnosis (CoD) framework on real-world clinical dialogue data (MedDialog) and integrates a multilingual voice interface.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Innovations: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Validated CoD on Real Data: First validated implementation of CoD on real-world clinical dialogues, bridging the synthetic-to-real gap.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Entropy-Driven Efficiency: Uses an entropy-reduction strategy to optimize symptom selection and minimize user inquiries (average 3.0 questions).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Accessibility: 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Supports multilingual, voice-enabled input (5 languages).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Interpretable Output: 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Provides a five-step reasoning chain and explicit confidence distributions for every diagnosis.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</a:t>
            </a:r>
            <a:r>
              <a:rPr lang="en-US" sz="2000" b="1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Achieved 71.2% diagnostic accuracy on real-world data with improved efficiency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399476" y="-369634"/>
            <a:ext cx="3050862" cy="1736218"/>
          </a:xfrm>
          <a:custGeom>
            <a:avLst/>
            <a:gdLst/>
            <a:ahLst/>
            <a:cxnLst/>
            <a:rect l="l" t="t" r="r" b="b"/>
            <a:pathLst>
              <a:path w="3050862" h="1736218">
                <a:moveTo>
                  <a:pt x="0" y="0"/>
                </a:moveTo>
                <a:lnTo>
                  <a:pt x="3050862" y="0"/>
                </a:lnTo>
                <a:lnTo>
                  <a:pt x="3050862" y="1736218"/>
                </a:lnTo>
                <a:lnTo>
                  <a:pt x="0" y="1736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8826" y="1688505"/>
            <a:ext cx="11323792" cy="773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User Input: Receives Text/Voice in Any Language for accessibility.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2. Preprocessing: Normalizes symptoms via Language Detection and Auto-Translation to English.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3. Retriever: Identifies top-K candidate diseases using Hybrid Retrieval (BM25 + Dense Embeddings).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4. Knowledge Augmentation: Grounds reasoning by adding information from the Disease KB and MedDialog (real-world data).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5. Reasoner: Executes CoD steps, performing Diagnostic Reasoning and Confidence Assessment.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6. Controller: The decision block: Diagnoses (Stop) or Inquires (Ask Next). Uses Entropy Reduction to select the most informative next symptom.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7. Final Diagnosis: Compiles the complete, interpretable prediction, reasoning, and confidence scores.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8. Output: Delivers the final report, potentially in the user's native language.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1992619" y="245956"/>
            <a:ext cx="5990582" cy="9811238"/>
          </a:xfrm>
          <a:custGeom>
            <a:avLst/>
            <a:gdLst/>
            <a:ahLst/>
            <a:cxnLst/>
            <a:rect l="l" t="t" r="r" b="b"/>
            <a:pathLst>
              <a:path w="3472259" h="9811238">
                <a:moveTo>
                  <a:pt x="0" y="0"/>
                </a:moveTo>
                <a:lnTo>
                  <a:pt x="3472258" y="0"/>
                </a:lnTo>
                <a:lnTo>
                  <a:pt x="3472258" y="9811238"/>
                </a:lnTo>
                <a:lnTo>
                  <a:pt x="0" y="9811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8826" y="122131"/>
            <a:ext cx="10115551" cy="115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Architecture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003" y="-123825"/>
            <a:ext cx="11793008" cy="114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Technology Stack and Tools</a:t>
            </a:r>
          </a:p>
        </p:txBody>
      </p:sp>
      <p:sp>
        <p:nvSpPr>
          <p:cNvPr id="3" name="Freeform 3"/>
          <p:cNvSpPr/>
          <p:nvPr/>
        </p:nvSpPr>
        <p:spPr>
          <a:xfrm>
            <a:off x="15386764" y="-350976"/>
            <a:ext cx="3745071" cy="2131286"/>
          </a:xfrm>
          <a:custGeom>
            <a:avLst/>
            <a:gdLst/>
            <a:ahLst/>
            <a:cxnLst/>
            <a:rect l="l" t="t" r="r" b="b"/>
            <a:pathLst>
              <a:path w="3745071" h="2131286">
                <a:moveTo>
                  <a:pt x="0" y="0"/>
                </a:moveTo>
                <a:lnTo>
                  <a:pt x="3745072" y="0"/>
                </a:lnTo>
                <a:lnTo>
                  <a:pt x="3745072" y="2131286"/>
                </a:lnTo>
                <a:lnTo>
                  <a:pt x="0" y="213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2842" y="1136615"/>
            <a:ext cx="12976269" cy="915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Programming language used: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Python (Primary language for the entire system, including the backend logic and the Streamlit frontend).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Libraries/Frameworks: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Large Language Model (LLM): Qwen2.5-7B-Instruct (Base model for MedPathAI).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Fine-tuning: LoRA (Low-Rank Adaptation) was used for efficient training.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Retrieval: FAISS (Index for dense vector search), Sentence-BERT / all-mpnet-base-v2 (for dense embeddings), and BM25 (for Hybrid Retrieval).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Frontend/UI: Streamlit (Used to build the interactive Clinical Dashboard).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Utility: langdetect, deep_translator (for Multilingual support/Translation), and streamlit_mic_recorder (for Voice Input).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Development Tools: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Python development environments (e.g., VS Code, Jupyter) are implied.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Training utilized a GPU server with NVIDIA A100 GPU cards.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Databases/Storage solutions: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Disease Knowledge Base (KB): Comprehensive database covering 9,604 diseases.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Vector Database: FAISS index stores the vector representations.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Datasets: MedDialog (Real-world dialogue data for validation) and DxBench (New diagnostic benchmark).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Deployment platforms :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Implies a Web-based Deployment for the interactive dashboard using Streamlit.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2352675" y="4544028"/>
            <a:ext cx="6068179" cy="6135108"/>
          </a:xfrm>
          <a:custGeom>
            <a:avLst/>
            <a:gdLst/>
            <a:ahLst/>
            <a:cxnLst/>
            <a:rect l="l" t="t" r="r" b="b"/>
            <a:pathLst>
              <a:path w="6068179" h="6135108">
                <a:moveTo>
                  <a:pt x="0" y="0"/>
                </a:moveTo>
                <a:lnTo>
                  <a:pt x="6068179" y="0"/>
                </a:lnTo>
                <a:lnTo>
                  <a:pt x="6068179" y="6135108"/>
                </a:lnTo>
                <a:lnTo>
                  <a:pt x="0" y="6135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7916" y="-372624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3658" y="28182"/>
            <a:ext cx="12807466" cy="114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Mathematical Foundation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23658" y="3111201"/>
            <a:ext cx="12217141" cy="6518690"/>
            <a:chOff x="0" y="-28575"/>
            <a:chExt cx="16289521" cy="8691587"/>
          </a:xfrm>
        </p:grpSpPr>
        <p:sp>
          <p:nvSpPr>
            <p:cNvPr id="5" name="TextBox 5"/>
            <p:cNvSpPr txBox="1"/>
            <p:nvPr/>
          </p:nvSpPr>
          <p:spPr>
            <a:xfrm>
              <a:off x="2531176" y="1215706"/>
              <a:ext cx="10063544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H(C)=-ΣCdlog(cd)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987688" y="1508018"/>
              <a:ext cx="762665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199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d∈D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7831" y="-28575"/>
              <a:ext cx="15963315" cy="2310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8"/>
                </a:lnSpc>
              </a:pPr>
              <a:r>
                <a:rPr lang="en-US" sz="1998" b="1" dirty="0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1. Shannon Entropy (H(c)) : Quantifies the current diagnostic uncertainty or diversity of the confidence distribution C.</a:t>
              </a:r>
            </a:p>
            <a:p>
              <a:pPr algn="l">
                <a:lnSpc>
                  <a:spcPts val="2798"/>
                </a:lnSpc>
              </a:pPr>
              <a:endParaRPr lang="en-US" sz="1998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algn="l">
                <a:lnSpc>
                  <a:spcPts val="2798"/>
                </a:lnSpc>
              </a:pPr>
              <a:endParaRPr lang="en-US" sz="1998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algn="l">
                <a:lnSpc>
                  <a:spcPts val="2798"/>
                </a:lnSpc>
              </a:pPr>
              <a:endParaRPr lang="en-US" sz="1998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1965" y="2516763"/>
              <a:ext cx="14691751" cy="910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Entropy Reduction for Inquiry Selection: The system selects the next symptom () by maximizing the expected reduction in uncertainty (information gain).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710255"/>
              <a:ext cx="16181146" cy="1380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dirty="0" err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</a:t>
              </a:r>
              <a:r>
                <a:rPr lang="en-US" sz="2000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=argmax(H(C)-EY~P(</a:t>
              </a:r>
              <a:r>
                <a:rPr lang="en-US" sz="2000" dirty="0" err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y|s</a:t>
              </a:r>
              <a:r>
                <a:rPr lang="en-US" sz="2000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)[H(</a:t>
              </a:r>
              <a:r>
                <a:rPr lang="en-US" sz="2000" dirty="0" err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C|s,y</a:t>
              </a:r>
              <a:r>
                <a:rPr lang="en-US" sz="2000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)])</a:t>
              </a:r>
            </a:p>
            <a:p>
              <a:pPr algn="ctr">
                <a:lnSpc>
                  <a:spcPts val="2800"/>
                </a:lnSpc>
              </a:pPr>
              <a:endPara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endPara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02447" y="4067325"/>
              <a:ext cx="1061087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s∈S</a:t>
              </a:r>
              <a:endPara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1965" y="5306617"/>
              <a:ext cx="16077556" cy="910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Hybrid Retrieval Score: Combines lexical (BM25) and semantic (Dense) matching for efficient candidate recall.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58327" y="6433078"/>
              <a:ext cx="10607025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scorehybrid (d,s) = α . scoredense (d,s) + (1-α ) . scoreBM25 (d,s)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5956" y="7934072"/>
              <a:ext cx="317035" cy="728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6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-1622678" y="2227164"/>
            <a:ext cx="1012738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Mathematical Formulas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4002813" y="325950"/>
            <a:ext cx="4285187" cy="11407046"/>
          </a:xfrm>
          <a:custGeom>
            <a:avLst/>
            <a:gdLst/>
            <a:ahLst/>
            <a:cxnLst/>
            <a:rect l="l" t="t" r="r" b="b"/>
            <a:pathLst>
              <a:path w="4285187" h="11407046">
                <a:moveTo>
                  <a:pt x="4285187" y="0"/>
                </a:moveTo>
                <a:lnTo>
                  <a:pt x="0" y="0"/>
                </a:lnTo>
                <a:lnTo>
                  <a:pt x="0" y="11407046"/>
                </a:lnTo>
                <a:lnTo>
                  <a:pt x="4285187" y="11407046"/>
                </a:lnTo>
                <a:lnTo>
                  <a:pt x="42851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7916" y="-372624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3658" y="28182"/>
            <a:ext cx="12807466" cy="114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Mathematical Foundation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5256" y="3142635"/>
            <a:ext cx="11972486" cy="68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Decision Making (Controller): Determines the next action (Diagnose or Inquire) based on the maximum confidence (Cmax) and a threshold ( 𝜏 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30789" y="8714729"/>
            <a:ext cx="237776" cy="563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5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605256" y="2334213"/>
            <a:ext cx="67141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Algorithm Explanations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14366008" y="484848"/>
            <a:ext cx="4285187" cy="11407046"/>
          </a:xfrm>
          <a:custGeom>
            <a:avLst/>
            <a:gdLst/>
            <a:ahLst/>
            <a:cxnLst/>
            <a:rect l="l" t="t" r="r" b="b"/>
            <a:pathLst>
              <a:path w="4285187" h="11407046">
                <a:moveTo>
                  <a:pt x="4285187" y="0"/>
                </a:moveTo>
                <a:lnTo>
                  <a:pt x="0" y="0"/>
                </a:lnTo>
                <a:lnTo>
                  <a:pt x="0" y="11407046"/>
                </a:lnTo>
                <a:lnTo>
                  <a:pt x="4285187" y="11407046"/>
                </a:lnTo>
                <a:lnTo>
                  <a:pt x="42851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3253118" y="4289539"/>
            <a:ext cx="16952178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Diagnose(dmax ) , if Cmax &gt; 𝜏 and ning &gt; 3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80273" y="4025320"/>
            <a:ext cx="158206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{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1305" y="4600342"/>
            <a:ext cx="438418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Inquire(St ) ,         otherwise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6587" y="4484070"/>
            <a:ext cx="198596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Anext =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5576" y="4184070"/>
            <a:ext cx="39476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_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72793" y="4184070"/>
            <a:ext cx="39476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_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5256" y="5425495"/>
            <a:ext cx="11972486" cy="68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2. Confidence Calculation: The model generates confidence scores, viewed as a softmax distribution over candidate diseases.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31336" y="8491619"/>
            <a:ext cx="57199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4666383" y="6384380"/>
            <a:ext cx="274720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exp(scored / 𝜏temp)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66383" y="6847259"/>
            <a:ext cx="265303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Σexp(scored’ /𝜏temp)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93024" y="6629771"/>
            <a:ext cx="59391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cd =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84932" y="7034584"/>
            <a:ext cx="58121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d’∈D</a:t>
            </a:r>
          </a:p>
        </p:txBody>
      </p:sp>
      <p:sp>
        <p:nvSpPr>
          <p:cNvPr id="20" name="AutoShape 20"/>
          <p:cNvSpPr/>
          <p:nvPr/>
        </p:nvSpPr>
        <p:spPr>
          <a:xfrm>
            <a:off x="4487669" y="6837734"/>
            <a:ext cx="25213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658" y="28182"/>
            <a:ext cx="12807466" cy="114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LIVE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003" y="-57225"/>
            <a:ext cx="11793008" cy="114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9"/>
              </a:lnSpc>
            </a:pPr>
            <a:r>
              <a:rPr lang="en-US" sz="66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Improvement on the paper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6003" y="1231149"/>
            <a:ext cx="12763546" cy="879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Improvements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Real-World Validation: First CoD implementation on real clinical dialogues (MedDialog), resolving the synthetic-to-real data gap.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Efficiency: Implemented Entropy Reduction for smart question selection, reducing average inquiries by 29% (to 3.0 rounds).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Accessibility: Integrated multilingual voice interface supporting five languages (English, Hindi, Spanish, French, Mandarin).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 Summary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Overall Accuracy: Achieved 71.2% (higher than DiagnosisGPT v3.3 at 69.8% and Original CoD at 68.5%).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 Data Accuracy: 67.1% (demonstrates generalization from synthetic data's 72.4%).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Efficiency: Average inquiries of 3.0 rounds (significantly lower than the CoD baseline of 4.2).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Challenge &amp; Resolution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Challenge: Integrating the structured CoD framework with ambiguous, real-world MedDialog conversations.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Resolution: Used Hybrid Retrieval and Knowledge Augmentation (with real snippets) to ground the LLM's reasoning.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2798"/>
              </a:lnSpc>
            </a:pPr>
            <a:r>
              <a:rPr lang="en-US" sz="1998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Focus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Limitations: Limited Handling of Rare Diseases and Not Clinically Validated.</a:t>
            </a:r>
          </a:p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Extensions: Expand to support low-resource languages, integrate with EHRs, and use Advanced Reinforcement Learning for question selection.</a:t>
            </a:r>
          </a:p>
          <a:p>
            <a:pPr algn="l">
              <a:lnSpc>
                <a:spcPts val="2798"/>
              </a:lnSpc>
            </a:pPr>
            <a:endParaRPr lang="en-US" sz="1998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3055426" y="388425"/>
            <a:ext cx="5232574" cy="11992423"/>
          </a:xfrm>
          <a:custGeom>
            <a:avLst/>
            <a:gdLst/>
            <a:ahLst/>
            <a:cxnLst/>
            <a:rect l="l" t="t" r="r" b="b"/>
            <a:pathLst>
              <a:path w="5232574" h="11992423">
                <a:moveTo>
                  <a:pt x="0" y="0"/>
                </a:moveTo>
                <a:lnTo>
                  <a:pt x="5232574" y="0"/>
                </a:lnTo>
                <a:lnTo>
                  <a:pt x="5232574" y="11992423"/>
                </a:lnTo>
                <a:lnTo>
                  <a:pt x="0" y="11992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1506794"/>
            <a:ext cx="8786940" cy="7751506"/>
          </a:xfrm>
          <a:custGeom>
            <a:avLst/>
            <a:gdLst/>
            <a:ahLst/>
            <a:cxnLst/>
            <a:rect l="l" t="t" r="r" b="b"/>
            <a:pathLst>
              <a:path w="8786940" h="7751506">
                <a:moveTo>
                  <a:pt x="0" y="0"/>
                </a:moveTo>
                <a:lnTo>
                  <a:pt x="8786940" y="0"/>
                </a:lnTo>
                <a:lnTo>
                  <a:pt x="8786940" y="7751506"/>
                </a:lnTo>
                <a:lnTo>
                  <a:pt x="0" y="77515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83251" y="6861780"/>
            <a:ext cx="1397243" cy="1135842"/>
          </a:xfrm>
          <a:custGeom>
            <a:avLst/>
            <a:gdLst/>
            <a:ahLst/>
            <a:cxnLst/>
            <a:rect l="l" t="t" r="r" b="b"/>
            <a:pathLst>
              <a:path w="1397243" h="1135842">
                <a:moveTo>
                  <a:pt x="0" y="0"/>
                </a:moveTo>
                <a:lnTo>
                  <a:pt x="1397244" y="0"/>
                </a:lnTo>
                <a:lnTo>
                  <a:pt x="1397244" y="1135843"/>
                </a:lnTo>
                <a:lnTo>
                  <a:pt x="0" y="11358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8896" y="2457528"/>
            <a:ext cx="8725954" cy="4116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28"/>
              </a:lnSpc>
            </a:pPr>
            <a:r>
              <a:rPr lang="en-US" sz="1582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THANK</a:t>
            </a:r>
          </a:p>
          <a:p>
            <a:pPr algn="ctr">
              <a:lnSpc>
                <a:spcPts val="15828"/>
              </a:lnSpc>
            </a:pPr>
            <a:r>
              <a:rPr lang="en-US" sz="1582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974</Words>
  <Application>Microsoft Office PowerPoint</Application>
  <PresentationFormat>Custom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Arial</vt:lpstr>
      <vt:lpstr>Montserrat</vt:lpstr>
      <vt:lpstr>League Spartan</vt:lpstr>
      <vt:lpstr>Fredoka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Illustrative Medical Healthcare Presentation</dc:title>
  <cp:lastModifiedBy>Md Aafthab</cp:lastModifiedBy>
  <cp:revision>2</cp:revision>
  <dcterms:created xsi:type="dcterms:W3CDTF">2006-08-16T00:00:00Z</dcterms:created>
  <dcterms:modified xsi:type="dcterms:W3CDTF">2025-12-14T10:44:39Z</dcterms:modified>
  <dc:identifier>DAG7eQPbrOE</dc:identifier>
</cp:coreProperties>
</file>