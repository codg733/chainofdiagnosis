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Bosk" charset="0"/>
      <p:regular r:id="rId12"/>
    </p:embeddedFont>
    <p:embeddedFont>
      <p:font typeface="Gotham" panose="020B0604020202020204" charset="0"/>
      <p:regular r:id="rId13"/>
    </p:embeddedFont>
    <p:embeddedFont>
      <p:font typeface="Hagrid Ultra-Bold" panose="020B0604020202020204" charset="0"/>
      <p:regular r:id="rId14"/>
    </p:embeddedFont>
    <p:embeddedFont>
      <p:font typeface="Livvic" pitchFamily="2" charset="0"/>
      <p:regular r:id="rId15"/>
    </p:embeddedFont>
    <p:embeddedFont>
      <p:font typeface="Livvic Bold" panose="020B0604020202020204" charset="0"/>
      <p:regular r:id="rId16"/>
    </p:embeddedFont>
    <p:embeddedFont>
      <p:font typeface="Public Sa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3400" y="1619497"/>
            <a:ext cx="5151452" cy="7048006"/>
          </a:xfrm>
          <a:custGeom>
            <a:avLst/>
            <a:gdLst/>
            <a:ahLst/>
            <a:cxnLst/>
            <a:rect l="l" t="t" r="r" b="b"/>
            <a:pathLst>
              <a:path w="5151452" h="7048006">
                <a:moveTo>
                  <a:pt x="0" y="0"/>
                </a:moveTo>
                <a:lnTo>
                  <a:pt x="5151452" y="0"/>
                </a:lnTo>
                <a:lnTo>
                  <a:pt x="5151452" y="7048006"/>
                </a:lnTo>
                <a:lnTo>
                  <a:pt x="0" y="7048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759157" y="673490"/>
            <a:ext cx="9173970" cy="320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 b="1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MEDPATHAI: FROM SYMPTOM TO SOLUTION</a:t>
            </a:r>
          </a:p>
          <a:p>
            <a:pPr algn="ctr">
              <a:lnSpc>
                <a:spcPts val="6000"/>
              </a:lnSpc>
            </a:pPr>
            <a:endParaRPr lang="en-US" sz="6000" b="1">
              <a:solidFill>
                <a:srgbClr val="034172"/>
              </a:solidFill>
              <a:latin typeface="Hagrid Ultra-Bold"/>
              <a:ea typeface="Hagrid Ultra-Bold"/>
              <a:cs typeface="Hagrid Ultra-Bold"/>
              <a:sym typeface="Hagrid Ultra-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081696" y="3969140"/>
            <a:ext cx="8528891" cy="2939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8"/>
              </a:lnSpc>
            </a:pPr>
            <a:r>
              <a:rPr lang="en-US" sz="4618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AN INTERPRETABLE, MULTIMODAL, AND MULTILINGUAL MEDICAL DIAGNOSTIC AGENT</a:t>
            </a:r>
          </a:p>
          <a:p>
            <a:pPr algn="ctr">
              <a:lnSpc>
                <a:spcPts val="4618"/>
              </a:lnSpc>
            </a:pPr>
            <a:endParaRPr lang="en-US" sz="4618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974995" y="7755832"/>
            <a:ext cx="7958131" cy="1207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956" b="1">
                <a:solidFill>
                  <a:srgbClr val="034172"/>
                </a:solidFill>
                <a:latin typeface="Livvic Bold"/>
                <a:ea typeface="Livvic Bold"/>
                <a:cs typeface="Livvic Bold"/>
                <a:sym typeface="Livvic Bold"/>
              </a:rPr>
              <a:t>TEAM : G733</a:t>
            </a:r>
          </a:p>
          <a:p>
            <a:pPr algn="l">
              <a:lnSpc>
                <a:spcPts val="3193"/>
              </a:lnSpc>
            </a:pPr>
            <a:r>
              <a:rPr lang="en-US" sz="2956" b="1">
                <a:solidFill>
                  <a:srgbClr val="034172"/>
                </a:solidFill>
                <a:latin typeface="Livvic Bold"/>
                <a:ea typeface="Livvic Bold"/>
                <a:cs typeface="Livvic Bold"/>
                <a:sym typeface="Livvic Bold"/>
              </a:rPr>
              <a:t>PRESENTED BY : MD AAFTHAB ALI</a:t>
            </a:r>
          </a:p>
          <a:p>
            <a:pPr algn="l">
              <a:lnSpc>
                <a:spcPts val="3193"/>
              </a:lnSpc>
            </a:pPr>
            <a:r>
              <a:rPr lang="en-US" sz="2956" b="1">
                <a:solidFill>
                  <a:srgbClr val="034172"/>
                </a:solidFill>
                <a:latin typeface="Livvic Bold"/>
                <a:ea typeface="Livvic Bold"/>
                <a:cs typeface="Livvic Bold"/>
                <a:sym typeface="Livvic Bold"/>
              </a:rPr>
              <a:t>MENTOR : DR.MANASA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01253" y="2535052"/>
            <a:ext cx="6098055" cy="1219611"/>
            <a:chOff x="0" y="0"/>
            <a:chExt cx="1548190" cy="3096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48190" cy="309638"/>
            </a:xfrm>
            <a:custGeom>
              <a:avLst/>
              <a:gdLst/>
              <a:ahLst/>
              <a:cxnLst/>
              <a:rect l="l" t="t" r="r" b="b"/>
              <a:pathLst>
                <a:path w="1548190" h="309638">
                  <a:moveTo>
                    <a:pt x="30470" y="0"/>
                  </a:moveTo>
                  <a:lnTo>
                    <a:pt x="1517721" y="0"/>
                  </a:lnTo>
                  <a:cubicBezTo>
                    <a:pt x="1534549" y="0"/>
                    <a:pt x="1548190" y="13642"/>
                    <a:pt x="1548190" y="30470"/>
                  </a:cubicBezTo>
                  <a:lnTo>
                    <a:pt x="1548190" y="279168"/>
                  </a:lnTo>
                  <a:cubicBezTo>
                    <a:pt x="1548190" y="287249"/>
                    <a:pt x="1544980" y="295000"/>
                    <a:pt x="1539266" y="300714"/>
                  </a:cubicBezTo>
                  <a:cubicBezTo>
                    <a:pt x="1533552" y="306428"/>
                    <a:pt x="1525802" y="309638"/>
                    <a:pt x="1517721" y="309638"/>
                  </a:cubicBezTo>
                  <a:lnTo>
                    <a:pt x="30470" y="309638"/>
                  </a:lnTo>
                  <a:cubicBezTo>
                    <a:pt x="13642" y="309638"/>
                    <a:pt x="0" y="295996"/>
                    <a:pt x="0" y="279168"/>
                  </a:cubicBezTo>
                  <a:lnTo>
                    <a:pt x="0" y="30470"/>
                  </a:lnTo>
                  <a:cubicBezTo>
                    <a:pt x="0" y="13642"/>
                    <a:pt x="13642" y="0"/>
                    <a:pt x="30470" y="0"/>
                  </a:cubicBezTo>
                  <a:close/>
                </a:path>
              </a:pathLst>
            </a:custGeom>
            <a:solidFill>
              <a:srgbClr val="8B8482">
                <a:alpha val="31765"/>
              </a:srgbClr>
            </a:solidFill>
            <a:ln w="19050" cap="rnd">
              <a:solidFill>
                <a:srgbClr val="8B8482">
                  <a:alpha val="31765"/>
                </a:srgbClr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548190" cy="319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01253" y="4263628"/>
            <a:ext cx="6098055" cy="1219611"/>
            <a:chOff x="0" y="0"/>
            <a:chExt cx="1548190" cy="3096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48190" cy="309638"/>
            </a:xfrm>
            <a:custGeom>
              <a:avLst/>
              <a:gdLst/>
              <a:ahLst/>
              <a:cxnLst/>
              <a:rect l="l" t="t" r="r" b="b"/>
              <a:pathLst>
                <a:path w="1548190" h="309638">
                  <a:moveTo>
                    <a:pt x="30470" y="0"/>
                  </a:moveTo>
                  <a:lnTo>
                    <a:pt x="1517721" y="0"/>
                  </a:lnTo>
                  <a:cubicBezTo>
                    <a:pt x="1534549" y="0"/>
                    <a:pt x="1548190" y="13642"/>
                    <a:pt x="1548190" y="30470"/>
                  </a:cubicBezTo>
                  <a:lnTo>
                    <a:pt x="1548190" y="279168"/>
                  </a:lnTo>
                  <a:cubicBezTo>
                    <a:pt x="1548190" y="287249"/>
                    <a:pt x="1544980" y="295000"/>
                    <a:pt x="1539266" y="300714"/>
                  </a:cubicBezTo>
                  <a:cubicBezTo>
                    <a:pt x="1533552" y="306428"/>
                    <a:pt x="1525802" y="309638"/>
                    <a:pt x="1517721" y="309638"/>
                  </a:cubicBezTo>
                  <a:lnTo>
                    <a:pt x="30470" y="309638"/>
                  </a:lnTo>
                  <a:cubicBezTo>
                    <a:pt x="13642" y="309638"/>
                    <a:pt x="0" y="295996"/>
                    <a:pt x="0" y="279168"/>
                  </a:cubicBezTo>
                  <a:lnTo>
                    <a:pt x="0" y="30470"/>
                  </a:lnTo>
                  <a:cubicBezTo>
                    <a:pt x="0" y="13642"/>
                    <a:pt x="13642" y="0"/>
                    <a:pt x="30470" y="0"/>
                  </a:cubicBezTo>
                  <a:close/>
                </a:path>
              </a:pathLst>
            </a:custGeom>
            <a:solidFill>
              <a:srgbClr val="8B8482">
                <a:alpha val="31765"/>
              </a:srgbClr>
            </a:solidFill>
            <a:ln w="19050" cap="rnd">
              <a:solidFill>
                <a:srgbClr val="8B8482">
                  <a:alpha val="31765"/>
                </a:srgbClr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548190" cy="319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01253" y="5992205"/>
            <a:ext cx="6098055" cy="1219611"/>
            <a:chOff x="0" y="0"/>
            <a:chExt cx="1548190" cy="3096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48190" cy="309638"/>
            </a:xfrm>
            <a:custGeom>
              <a:avLst/>
              <a:gdLst/>
              <a:ahLst/>
              <a:cxnLst/>
              <a:rect l="l" t="t" r="r" b="b"/>
              <a:pathLst>
                <a:path w="1548190" h="309638">
                  <a:moveTo>
                    <a:pt x="30470" y="0"/>
                  </a:moveTo>
                  <a:lnTo>
                    <a:pt x="1517721" y="0"/>
                  </a:lnTo>
                  <a:cubicBezTo>
                    <a:pt x="1534549" y="0"/>
                    <a:pt x="1548190" y="13642"/>
                    <a:pt x="1548190" y="30470"/>
                  </a:cubicBezTo>
                  <a:lnTo>
                    <a:pt x="1548190" y="279168"/>
                  </a:lnTo>
                  <a:cubicBezTo>
                    <a:pt x="1548190" y="287249"/>
                    <a:pt x="1544980" y="295000"/>
                    <a:pt x="1539266" y="300714"/>
                  </a:cubicBezTo>
                  <a:cubicBezTo>
                    <a:pt x="1533552" y="306428"/>
                    <a:pt x="1525802" y="309638"/>
                    <a:pt x="1517721" y="309638"/>
                  </a:cubicBezTo>
                  <a:lnTo>
                    <a:pt x="30470" y="309638"/>
                  </a:lnTo>
                  <a:cubicBezTo>
                    <a:pt x="13642" y="309638"/>
                    <a:pt x="0" y="295996"/>
                    <a:pt x="0" y="279168"/>
                  </a:cubicBezTo>
                  <a:lnTo>
                    <a:pt x="0" y="30470"/>
                  </a:lnTo>
                  <a:cubicBezTo>
                    <a:pt x="0" y="13642"/>
                    <a:pt x="13642" y="0"/>
                    <a:pt x="30470" y="0"/>
                  </a:cubicBezTo>
                  <a:close/>
                </a:path>
              </a:pathLst>
            </a:custGeom>
            <a:solidFill>
              <a:srgbClr val="8B8482">
                <a:alpha val="31765"/>
              </a:srgbClr>
            </a:solidFill>
            <a:ln w="19050" cap="rnd">
              <a:solidFill>
                <a:srgbClr val="8B8482">
                  <a:alpha val="31765"/>
                </a:srgbClr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548190" cy="319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01253" y="7720781"/>
            <a:ext cx="6098055" cy="1219611"/>
            <a:chOff x="0" y="0"/>
            <a:chExt cx="1548190" cy="3096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48190" cy="309638"/>
            </a:xfrm>
            <a:custGeom>
              <a:avLst/>
              <a:gdLst/>
              <a:ahLst/>
              <a:cxnLst/>
              <a:rect l="l" t="t" r="r" b="b"/>
              <a:pathLst>
                <a:path w="1548190" h="309638">
                  <a:moveTo>
                    <a:pt x="30470" y="0"/>
                  </a:moveTo>
                  <a:lnTo>
                    <a:pt x="1517721" y="0"/>
                  </a:lnTo>
                  <a:cubicBezTo>
                    <a:pt x="1534549" y="0"/>
                    <a:pt x="1548190" y="13642"/>
                    <a:pt x="1548190" y="30470"/>
                  </a:cubicBezTo>
                  <a:lnTo>
                    <a:pt x="1548190" y="279168"/>
                  </a:lnTo>
                  <a:cubicBezTo>
                    <a:pt x="1548190" y="287249"/>
                    <a:pt x="1544980" y="295000"/>
                    <a:pt x="1539266" y="300714"/>
                  </a:cubicBezTo>
                  <a:cubicBezTo>
                    <a:pt x="1533552" y="306428"/>
                    <a:pt x="1525802" y="309638"/>
                    <a:pt x="1517721" y="309638"/>
                  </a:cubicBezTo>
                  <a:lnTo>
                    <a:pt x="30470" y="309638"/>
                  </a:lnTo>
                  <a:cubicBezTo>
                    <a:pt x="13642" y="309638"/>
                    <a:pt x="0" y="295996"/>
                    <a:pt x="0" y="279168"/>
                  </a:cubicBezTo>
                  <a:lnTo>
                    <a:pt x="0" y="30470"/>
                  </a:lnTo>
                  <a:cubicBezTo>
                    <a:pt x="0" y="13642"/>
                    <a:pt x="13642" y="0"/>
                    <a:pt x="30470" y="0"/>
                  </a:cubicBezTo>
                  <a:close/>
                </a:path>
              </a:pathLst>
            </a:custGeom>
            <a:solidFill>
              <a:srgbClr val="8B8482">
                <a:alpha val="31765"/>
              </a:srgbClr>
            </a:solidFill>
            <a:ln w="19050" cap="rnd">
              <a:solidFill>
                <a:srgbClr val="8B8482">
                  <a:alpha val="31765"/>
                </a:srgbClr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548190" cy="319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01253" y="2434942"/>
            <a:ext cx="6098055" cy="1219611"/>
            <a:chOff x="0" y="0"/>
            <a:chExt cx="1548190" cy="3096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48190" cy="309638"/>
            </a:xfrm>
            <a:custGeom>
              <a:avLst/>
              <a:gdLst/>
              <a:ahLst/>
              <a:cxnLst/>
              <a:rect l="l" t="t" r="r" b="b"/>
              <a:pathLst>
                <a:path w="1548190" h="309638">
                  <a:moveTo>
                    <a:pt x="20313" y="0"/>
                  </a:moveTo>
                  <a:lnTo>
                    <a:pt x="1527877" y="0"/>
                  </a:lnTo>
                  <a:cubicBezTo>
                    <a:pt x="1533265" y="0"/>
                    <a:pt x="1538431" y="2140"/>
                    <a:pt x="1542241" y="5950"/>
                  </a:cubicBezTo>
                  <a:cubicBezTo>
                    <a:pt x="1546050" y="9759"/>
                    <a:pt x="1548190" y="14926"/>
                    <a:pt x="1548190" y="20313"/>
                  </a:cubicBezTo>
                  <a:lnTo>
                    <a:pt x="1548190" y="289325"/>
                  </a:lnTo>
                  <a:cubicBezTo>
                    <a:pt x="1548190" y="294712"/>
                    <a:pt x="1546050" y="299879"/>
                    <a:pt x="1542241" y="303689"/>
                  </a:cubicBezTo>
                  <a:cubicBezTo>
                    <a:pt x="1538431" y="307498"/>
                    <a:pt x="1533265" y="309638"/>
                    <a:pt x="1527877" y="309638"/>
                  </a:cubicBezTo>
                  <a:lnTo>
                    <a:pt x="20313" y="309638"/>
                  </a:lnTo>
                  <a:cubicBezTo>
                    <a:pt x="14926" y="309638"/>
                    <a:pt x="9759" y="307498"/>
                    <a:pt x="5950" y="303689"/>
                  </a:cubicBezTo>
                  <a:cubicBezTo>
                    <a:pt x="2140" y="299879"/>
                    <a:pt x="0" y="294712"/>
                    <a:pt x="0" y="289325"/>
                  </a:cubicBezTo>
                  <a:lnTo>
                    <a:pt x="0" y="20313"/>
                  </a:lnTo>
                  <a:cubicBezTo>
                    <a:pt x="0" y="14926"/>
                    <a:pt x="2140" y="9759"/>
                    <a:pt x="5950" y="5950"/>
                  </a:cubicBezTo>
                  <a:cubicBezTo>
                    <a:pt x="9759" y="2140"/>
                    <a:pt x="14926" y="0"/>
                    <a:pt x="203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548190" cy="319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704521" y="2638211"/>
            <a:ext cx="813074" cy="813074"/>
            <a:chOff x="0" y="0"/>
            <a:chExt cx="722489" cy="72248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2489" cy="722489"/>
            </a:xfrm>
            <a:custGeom>
              <a:avLst/>
              <a:gdLst/>
              <a:ahLst/>
              <a:cxnLst/>
              <a:rect l="l" t="t" r="r" b="b"/>
              <a:pathLst>
                <a:path w="722489" h="722489">
                  <a:moveTo>
                    <a:pt x="152349" y="0"/>
                  </a:moveTo>
                  <a:lnTo>
                    <a:pt x="570140" y="0"/>
                  </a:lnTo>
                  <a:cubicBezTo>
                    <a:pt x="654280" y="0"/>
                    <a:pt x="722489" y="68209"/>
                    <a:pt x="722489" y="152349"/>
                  </a:cubicBezTo>
                  <a:lnTo>
                    <a:pt x="722489" y="570140"/>
                  </a:lnTo>
                  <a:cubicBezTo>
                    <a:pt x="722489" y="654280"/>
                    <a:pt x="654280" y="722489"/>
                    <a:pt x="570140" y="722489"/>
                  </a:cubicBezTo>
                  <a:lnTo>
                    <a:pt x="152349" y="722489"/>
                  </a:lnTo>
                  <a:cubicBezTo>
                    <a:pt x="111943" y="722489"/>
                    <a:pt x="73193" y="706438"/>
                    <a:pt x="44622" y="677867"/>
                  </a:cubicBezTo>
                  <a:cubicBezTo>
                    <a:pt x="16051" y="649296"/>
                    <a:pt x="0" y="610546"/>
                    <a:pt x="0" y="570140"/>
                  </a:cubicBezTo>
                  <a:lnTo>
                    <a:pt x="0" y="152349"/>
                  </a:lnTo>
                  <a:cubicBezTo>
                    <a:pt x="0" y="68209"/>
                    <a:pt x="68209" y="0"/>
                    <a:pt x="152349" y="0"/>
                  </a:cubicBezTo>
                  <a:close/>
                </a:path>
              </a:pathLst>
            </a:custGeom>
            <a:solidFill>
              <a:srgbClr val="80B8AA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722489" cy="732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501253" y="4162725"/>
            <a:ext cx="6098055" cy="1219611"/>
            <a:chOff x="0" y="0"/>
            <a:chExt cx="1548190" cy="30963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48190" cy="309638"/>
            </a:xfrm>
            <a:custGeom>
              <a:avLst/>
              <a:gdLst/>
              <a:ahLst/>
              <a:cxnLst/>
              <a:rect l="l" t="t" r="r" b="b"/>
              <a:pathLst>
                <a:path w="1548190" h="309638">
                  <a:moveTo>
                    <a:pt x="20313" y="0"/>
                  </a:moveTo>
                  <a:lnTo>
                    <a:pt x="1527877" y="0"/>
                  </a:lnTo>
                  <a:cubicBezTo>
                    <a:pt x="1533265" y="0"/>
                    <a:pt x="1538431" y="2140"/>
                    <a:pt x="1542241" y="5950"/>
                  </a:cubicBezTo>
                  <a:cubicBezTo>
                    <a:pt x="1546050" y="9759"/>
                    <a:pt x="1548190" y="14926"/>
                    <a:pt x="1548190" y="20313"/>
                  </a:cubicBezTo>
                  <a:lnTo>
                    <a:pt x="1548190" y="289325"/>
                  </a:lnTo>
                  <a:cubicBezTo>
                    <a:pt x="1548190" y="294712"/>
                    <a:pt x="1546050" y="299879"/>
                    <a:pt x="1542241" y="303689"/>
                  </a:cubicBezTo>
                  <a:cubicBezTo>
                    <a:pt x="1538431" y="307498"/>
                    <a:pt x="1533265" y="309638"/>
                    <a:pt x="1527877" y="309638"/>
                  </a:cubicBezTo>
                  <a:lnTo>
                    <a:pt x="20313" y="309638"/>
                  </a:lnTo>
                  <a:cubicBezTo>
                    <a:pt x="14926" y="309638"/>
                    <a:pt x="9759" y="307498"/>
                    <a:pt x="5950" y="303689"/>
                  </a:cubicBezTo>
                  <a:cubicBezTo>
                    <a:pt x="2140" y="299879"/>
                    <a:pt x="0" y="294712"/>
                    <a:pt x="0" y="289325"/>
                  </a:cubicBezTo>
                  <a:lnTo>
                    <a:pt x="0" y="20313"/>
                  </a:lnTo>
                  <a:cubicBezTo>
                    <a:pt x="0" y="14926"/>
                    <a:pt x="2140" y="9759"/>
                    <a:pt x="5950" y="5950"/>
                  </a:cubicBezTo>
                  <a:cubicBezTo>
                    <a:pt x="9759" y="2140"/>
                    <a:pt x="14926" y="0"/>
                    <a:pt x="203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548190" cy="319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704521" y="4365993"/>
            <a:ext cx="813074" cy="813074"/>
            <a:chOff x="0" y="0"/>
            <a:chExt cx="722489" cy="72248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22489" cy="722489"/>
            </a:xfrm>
            <a:custGeom>
              <a:avLst/>
              <a:gdLst/>
              <a:ahLst/>
              <a:cxnLst/>
              <a:rect l="l" t="t" r="r" b="b"/>
              <a:pathLst>
                <a:path w="722489" h="722489">
                  <a:moveTo>
                    <a:pt x="152349" y="0"/>
                  </a:moveTo>
                  <a:lnTo>
                    <a:pt x="570140" y="0"/>
                  </a:lnTo>
                  <a:cubicBezTo>
                    <a:pt x="654280" y="0"/>
                    <a:pt x="722489" y="68209"/>
                    <a:pt x="722489" y="152349"/>
                  </a:cubicBezTo>
                  <a:lnTo>
                    <a:pt x="722489" y="570140"/>
                  </a:lnTo>
                  <a:cubicBezTo>
                    <a:pt x="722489" y="654280"/>
                    <a:pt x="654280" y="722489"/>
                    <a:pt x="570140" y="722489"/>
                  </a:cubicBezTo>
                  <a:lnTo>
                    <a:pt x="152349" y="722489"/>
                  </a:lnTo>
                  <a:cubicBezTo>
                    <a:pt x="111943" y="722489"/>
                    <a:pt x="73193" y="706438"/>
                    <a:pt x="44622" y="677867"/>
                  </a:cubicBezTo>
                  <a:cubicBezTo>
                    <a:pt x="16051" y="649296"/>
                    <a:pt x="0" y="610546"/>
                    <a:pt x="0" y="570140"/>
                  </a:cubicBezTo>
                  <a:lnTo>
                    <a:pt x="0" y="152349"/>
                  </a:lnTo>
                  <a:cubicBezTo>
                    <a:pt x="0" y="68209"/>
                    <a:pt x="68209" y="0"/>
                    <a:pt x="152349" y="0"/>
                  </a:cubicBezTo>
                  <a:close/>
                </a:path>
              </a:pathLst>
            </a:custGeom>
            <a:solidFill>
              <a:srgbClr val="6EAADB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722489" cy="732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501253" y="5890507"/>
            <a:ext cx="6098055" cy="1219611"/>
            <a:chOff x="0" y="0"/>
            <a:chExt cx="1548190" cy="30963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48190" cy="309638"/>
            </a:xfrm>
            <a:custGeom>
              <a:avLst/>
              <a:gdLst/>
              <a:ahLst/>
              <a:cxnLst/>
              <a:rect l="l" t="t" r="r" b="b"/>
              <a:pathLst>
                <a:path w="1548190" h="309638">
                  <a:moveTo>
                    <a:pt x="20313" y="0"/>
                  </a:moveTo>
                  <a:lnTo>
                    <a:pt x="1527877" y="0"/>
                  </a:lnTo>
                  <a:cubicBezTo>
                    <a:pt x="1533265" y="0"/>
                    <a:pt x="1538431" y="2140"/>
                    <a:pt x="1542241" y="5950"/>
                  </a:cubicBezTo>
                  <a:cubicBezTo>
                    <a:pt x="1546050" y="9759"/>
                    <a:pt x="1548190" y="14926"/>
                    <a:pt x="1548190" y="20313"/>
                  </a:cubicBezTo>
                  <a:lnTo>
                    <a:pt x="1548190" y="289325"/>
                  </a:lnTo>
                  <a:cubicBezTo>
                    <a:pt x="1548190" y="294712"/>
                    <a:pt x="1546050" y="299879"/>
                    <a:pt x="1542241" y="303689"/>
                  </a:cubicBezTo>
                  <a:cubicBezTo>
                    <a:pt x="1538431" y="307498"/>
                    <a:pt x="1533265" y="309638"/>
                    <a:pt x="1527877" y="309638"/>
                  </a:cubicBezTo>
                  <a:lnTo>
                    <a:pt x="20313" y="309638"/>
                  </a:lnTo>
                  <a:cubicBezTo>
                    <a:pt x="14926" y="309638"/>
                    <a:pt x="9759" y="307498"/>
                    <a:pt x="5950" y="303689"/>
                  </a:cubicBezTo>
                  <a:cubicBezTo>
                    <a:pt x="2140" y="299879"/>
                    <a:pt x="0" y="294712"/>
                    <a:pt x="0" y="289325"/>
                  </a:cubicBezTo>
                  <a:lnTo>
                    <a:pt x="0" y="20313"/>
                  </a:lnTo>
                  <a:cubicBezTo>
                    <a:pt x="0" y="14926"/>
                    <a:pt x="2140" y="9759"/>
                    <a:pt x="5950" y="5950"/>
                  </a:cubicBezTo>
                  <a:cubicBezTo>
                    <a:pt x="9759" y="2140"/>
                    <a:pt x="14926" y="0"/>
                    <a:pt x="203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1548190" cy="319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704521" y="6093775"/>
            <a:ext cx="813074" cy="813074"/>
            <a:chOff x="0" y="0"/>
            <a:chExt cx="722489" cy="72248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22489" cy="722489"/>
            </a:xfrm>
            <a:custGeom>
              <a:avLst/>
              <a:gdLst/>
              <a:ahLst/>
              <a:cxnLst/>
              <a:rect l="l" t="t" r="r" b="b"/>
              <a:pathLst>
                <a:path w="722489" h="722489">
                  <a:moveTo>
                    <a:pt x="152349" y="0"/>
                  </a:moveTo>
                  <a:lnTo>
                    <a:pt x="570140" y="0"/>
                  </a:lnTo>
                  <a:cubicBezTo>
                    <a:pt x="654280" y="0"/>
                    <a:pt x="722489" y="68209"/>
                    <a:pt x="722489" y="152349"/>
                  </a:cubicBezTo>
                  <a:lnTo>
                    <a:pt x="722489" y="570140"/>
                  </a:lnTo>
                  <a:cubicBezTo>
                    <a:pt x="722489" y="654280"/>
                    <a:pt x="654280" y="722489"/>
                    <a:pt x="570140" y="722489"/>
                  </a:cubicBezTo>
                  <a:lnTo>
                    <a:pt x="152349" y="722489"/>
                  </a:lnTo>
                  <a:cubicBezTo>
                    <a:pt x="111943" y="722489"/>
                    <a:pt x="73193" y="706438"/>
                    <a:pt x="44622" y="677867"/>
                  </a:cubicBezTo>
                  <a:cubicBezTo>
                    <a:pt x="16051" y="649296"/>
                    <a:pt x="0" y="610546"/>
                    <a:pt x="0" y="570140"/>
                  </a:cubicBezTo>
                  <a:lnTo>
                    <a:pt x="0" y="152349"/>
                  </a:lnTo>
                  <a:cubicBezTo>
                    <a:pt x="0" y="68209"/>
                    <a:pt x="68209" y="0"/>
                    <a:pt x="152349" y="0"/>
                  </a:cubicBezTo>
                  <a:close/>
                </a:path>
              </a:pathLst>
            </a:custGeom>
            <a:solidFill>
              <a:srgbClr val="A480B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722489" cy="732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501253" y="7618289"/>
            <a:ext cx="6098055" cy="1219611"/>
            <a:chOff x="0" y="0"/>
            <a:chExt cx="1548190" cy="30963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48190" cy="309638"/>
            </a:xfrm>
            <a:custGeom>
              <a:avLst/>
              <a:gdLst/>
              <a:ahLst/>
              <a:cxnLst/>
              <a:rect l="l" t="t" r="r" b="b"/>
              <a:pathLst>
                <a:path w="1548190" h="309638">
                  <a:moveTo>
                    <a:pt x="20313" y="0"/>
                  </a:moveTo>
                  <a:lnTo>
                    <a:pt x="1527877" y="0"/>
                  </a:lnTo>
                  <a:cubicBezTo>
                    <a:pt x="1533265" y="0"/>
                    <a:pt x="1538431" y="2140"/>
                    <a:pt x="1542241" y="5950"/>
                  </a:cubicBezTo>
                  <a:cubicBezTo>
                    <a:pt x="1546050" y="9759"/>
                    <a:pt x="1548190" y="14926"/>
                    <a:pt x="1548190" y="20313"/>
                  </a:cubicBezTo>
                  <a:lnTo>
                    <a:pt x="1548190" y="289325"/>
                  </a:lnTo>
                  <a:cubicBezTo>
                    <a:pt x="1548190" y="294712"/>
                    <a:pt x="1546050" y="299879"/>
                    <a:pt x="1542241" y="303689"/>
                  </a:cubicBezTo>
                  <a:cubicBezTo>
                    <a:pt x="1538431" y="307498"/>
                    <a:pt x="1533265" y="309638"/>
                    <a:pt x="1527877" y="309638"/>
                  </a:cubicBezTo>
                  <a:lnTo>
                    <a:pt x="20313" y="309638"/>
                  </a:lnTo>
                  <a:cubicBezTo>
                    <a:pt x="14926" y="309638"/>
                    <a:pt x="9759" y="307498"/>
                    <a:pt x="5950" y="303689"/>
                  </a:cubicBezTo>
                  <a:cubicBezTo>
                    <a:pt x="2140" y="299879"/>
                    <a:pt x="0" y="294712"/>
                    <a:pt x="0" y="289325"/>
                  </a:cubicBezTo>
                  <a:lnTo>
                    <a:pt x="0" y="20313"/>
                  </a:lnTo>
                  <a:cubicBezTo>
                    <a:pt x="0" y="14926"/>
                    <a:pt x="2140" y="9759"/>
                    <a:pt x="5950" y="5950"/>
                  </a:cubicBezTo>
                  <a:cubicBezTo>
                    <a:pt x="9759" y="2140"/>
                    <a:pt x="14926" y="0"/>
                    <a:pt x="203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548190" cy="319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704521" y="7821558"/>
            <a:ext cx="813074" cy="813074"/>
            <a:chOff x="0" y="0"/>
            <a:chExt cx="722489" cy="72248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22489" cy="722489"/>
            </a:xfrm>
            <a:custGeom>
              <a:avLst/>
              <a:gdLst/>
              <a:ahLst/>
              <a:cxnLst/>
              <a:rect l="l" t="t" r="r" b="b"/>
              <a:pathLst>
                <a:path w="722489" h="722489">
                  <a:moveTo>
                    <a:pt x="152349" y="0"/>
                  </a:moveTo>
                  <a:lnTo>
                    <a:pt x="570140" y="0"/>
                  </a:lnTo>
                  <a:cubicBezTo>
                    <a:pt x="654280" y="0"/>
                    <a:pt x="722489" y="68209"/>
                    <a:pt x="722489" y="152349"/>
                  </a:cubicBezTo>
                  <a:lnTo>
                    <a:pt x="722489" y="570140"/>
                  </a:lnTo>
                  <a:cubicBezTo>
                    <a:pt x="722489" y="654280"/>
                    <a:pt x="654280" y="722489"/>
                    <a:pt x="570140" y="722489"/>
                  </a:cubicBezTo>
                  <a:lnTo>
                    <a:pt x="152349" y="722489"/>
                  </a:lnTo>
                  <a:cubicBezTo>
                    <a:pt x="111943" y="722489"/>
                    <a:pt x="73193" y="706438"/>
                    <a:pt x="44622" y="677867"/>
                  </a:cubicBezTo>
                  <a:cubicBezTo>
                    <a:pt x="16051" y="649296"/>
                    <a:pt x="0" y="610546"/>
                    <a:pt x="0" y="570140"/>
                  </a:cubicBezTo>
                  <a:lnTo>
                    <a:pt x="0" y="152349"/>
                  </a:lnTo>
                  <a:cubicBezTo>
                    <a:pt x="0" y="68209"/>
                    <a:pt x="68209" y="0"/>
                    <a:pt x="152349" y="0"/>
                  </a:cubicBezTo>
                  <a:close/>
                </a:path>
              </a:pathLst>
            </a:custGeom>
            <a:solidFill>
              <a:srgbClr val="BB6FA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722489" cy="732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3720864" y="2829622"/>
            <a:ext cx="4065370" cy="43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87"/>
              </a:lnSpc>
              <a:spcBef>
                <a:spcPct val="0"/>
              </a:spcBef>
            </a:pPr>
            <a:r>
              <a:rPr lang="en-US" sz="2823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Introduction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704521" y="2853271"/>
            <a:ext cx="813074" cy="449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sz="338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720864" y="4392333"/>
            <a:ext cx="4065370" cy="86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87"/>
              </a:lnSpc>
              <a:spcBef>
                <a:spcPct val="0"/>
              </a:spcBef>
            </a:pPr>
            <a:r>
              <a:rPr lang="en-US" sz="2823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Understanding of Base Paper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04521" y="4581054"/>
            <a:ext cx="813074" cy="449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sz="338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720864" y="6285186"/>
            <a:ext cx="4065370" cy="43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87"/>
              </a:lnSpc>
              <a:spcBef>
                <a:spcPct val="0"/>
              </a:spcBef>
            </a:pPr>
            <a:r>
              <a:rPr lang="en-US" sz="2823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Problem Definition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704521" y="6308836"/>
            <a:ext cx="813074" cy="449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sz="338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03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720864" y="8012969"/>
            <a:ext cx="4065370" cy="43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87"/>
              </a:lnSpc>
              <a:spcBef>
                <a:spcPct val="0"/>
              </a:spcBef>
            </a:pPr>
            <a:r>
              <a:rPr lang="en-US" sz="2823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Scope of Project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704521" y="8036618"/>
            <a:ext cx="813074" cy="449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sz="338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04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688692" y="3194912"/>
            <a:ext cx="6098055" cy="1219611"/>
            <a:chOff x="0" y="0"/>
            <a:chExt cx="1548190" cy="30963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548190" cy="309638"/>
            </a:xfrm>
            <a:custGeom>
              <a:avLst/>
              <a:gdLst/>
              <a:ahLst/>
              <a:cxnLst/>
              <a:rect l="l" t="t" r="r" b="b"/>
              <a:pathLst>
                <a:path w="1548190" h="309638">
                  <a:moveTo>
                    <a:pt x="30470" y="0"/>
                  </a:moveTo>
                  <a:lnTo>
                    <a:pt x="1517721" y="0"/>
                  </a:lnTo>
                  <a:cubicBezTo>
                    <a:pt x="1534549" y="0"/>
                    <a:pt x="1548190" y="13642"/>
                    <a:pt x="1548190" y="30470"/>
                  </a:cubicBezTo>
                  <a:lnTo>
                    <a:pt x="1548190" y="279168"/>
                  </a:lnTo>
                  <a:cubicBezTo>
                    <a:pt x="1548190" y="287249"/>
                    <a:pt x="1544980" y="295000"/>
                    <a:pt x="1539266" y="300714"/>
                  </a:cubicBezTo>
                  <a:cubicBezTo>
                    <a:pt x="1533552" y="306428"/>
                    <a:pt x="1525802" y="309638"/>
                    <a:pt x="1517721" y="309638"/>
                  </a:cubicBezTo>
                  <a:lnTo>
                    <a:pt x="30470" y="309638"/>
                  </a:lnTo>
                  <a:cubicBezTo>
                    <a:pt x="13642" y="309638"/>
                    <a:pt x="0" y="295996"/>
                    <a:pt x="0" y="279168"/>
                  </a:cubicBezTo>
                  <a:lnTo>
                    <a:pt x="0" y="30470"/>
                  </a:lnTo>
                  <a:cubicBezTo>
                    <a:pt x="0" y="13642"/>
                    <a:pt x="13642" y="0"/>
                    <a:pt x="30470" y="0"/>
                  </a:cubicBezTo>
                  <a:close/>
                </a:path>
              </a:pathLst>
            </a:custGeom>
            <a:solidFill>
              <a:srgbClr val="8B8482">
                <a:alpha val="31765"/>
              </a:srgbClr>
            </a:solidFill>
            <a:ln w="19050" cap="rnd">
              <a:solidFill>
                <a:srgbClr val="8B8482">
                  <a:alpha val="31765"/>
                </a:srgbClr>
              </a:solidFill>
              <a:prstDash val="solid"/>
              <a:round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1548190" cy="319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688692" y="4923489"/>
            <a:ext cx="6098055" cy="1219611"/>
            <a:chOff x="0" y="0"/>
            <a:chExt cx="1548190" cy="30963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548190" cy="309638"/>
            </a:xfrm>
            <a:custGeom>
              <a:avLst/>
              <a:gdLst/>
              <a:ahLst/>
              <a:cxnLst/>
              <a:rect l="l" t="t" r="r" b="b"/>
              <a:pathLst>
                <a:path w="1548190" h="309638">
                  <a:moveTo>
                    <a:pt x="30470" y="0"/>
                  </a:moveTo>
                  <a:lnTo>
                    <a:pt x="1517721" y="0"/>
                  </a:lnTo>
                  <a:cubicBezTo>
                    <a:pt x="1534549" y="0"/>
                    <a:pt x="1548190" y="13642"/>
                    <a:pt x="1548190" y="30470"/>
                  </a:cubicBezTo>
                  <a:lnTo>
                    <a:pt x="1548190" y="279168"/>
                  </a:lnTo>
                  <a:cubicBezTo>
                    <a:pt x="1548190" y="287249"/>
                    <a:pt x="1544980" y="295000"/>
                    <a:pt x="1539266" y="300714"/>
                  </a:cubicBezTo>
                  <a:cubicBezTo>
                    <a:pt x="1533552" y="306428"/>
                    <a:pt x="1525802" y="309638"/>
                    <a:pt x="1517721" y="309638"/>
                  </a:cubicBezTo>
                  <a:lnTo>
                    <a:pt x="30470" y="309638"/>
                  </a:lnTo>
                  <a:cubicBezTo>
                    <a:pt x="13642" y="309638"/>
                    <a:pt x="0" y="295996"/>
                    <a:pt x="0" y="279168"/>
                  </a:cubicBezTo>
                  <a:lnTo>
                    <a:pt x="0" y="30470"/>
                  </a:lnTo>
                  <a:cubicBezTo>
                    <a:pt x="0" y="13642"/>
                    <a:pt x="13642" y="0"/>
                    <a:pt x="30470" y="0"/>
                  </a:cubicBezTo>
                  <a:close/>
                </a:path>
              </a:pathLst>
            </a:custGeom>
            <a:solidFill>
              <a:srgbClr val="8B8482">
                <a:alpha val="31765"/>
              </a:srgbClr>
            </a:solidFill>
            <a:ln w="19050" cap="rnd">
              <a:solidFill>
                <a:srgbClr val="8B8482">
                  <a:alpha val="31765"/>
                </a:srgbClr>
              </a:solidFill>
              <a:prstDash val="solid"/>
              <a:round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1548190" cy="319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688692" y="6652065"/>
            <a:ext cx="6098055" cy="1219611"/>
            <a:chOff x="0" y="0"/>
            <a:chExt cx="1548190" cy="30963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548190" cy="309638"/>
            </a:xfrm>
            <a:custGeom>
              <a:avLst/>
              <a:gdLst/>
              <a:ahLst/>
              <a:cxnLst/>
              <a:rect l="l" t="t" r="r" b="b"/>
              <a:pathLst>
                <a:path w="1548190" h="309638">
                  <a:moveTo>
                    <a:pt x="30470" y="0"/>
                  </a:moveTo>
                  <a:lnTo>
                    <a:pt x="1517721" y="0"/>
                  </a:lnTo>
                  <a:cubicBezTo>
                    <a:pt x="1534549" y="0"/>
                    <a:pt x="1548190" y="13642"/>
                    <a:pt x="1548190" y="30470"/>
                  </a:cubicBezTo>
                  <a:lnTo>
                    <a:pt x="1548190" y="279168"/>
                  </a:lnTo>
                  <a:cubicBezTo>
                    <a:pt x="1548190" y="287249"/>
                    <a:pt x="1544980" y="295000"/>
                    <a:pt x="1539266" y="300714"/>
                  </a:cubicBezTo>
                  <a:cubicBezTo>
                    <a:pt x="1533552" y="306428"/>
                    <a:pt x="1525802" y="309638"/>
                    <a:pt x="1517721" y="309638"/>
                  </a:cubicBezTo>
                  <a:lnTo>
                    <a:pt x="30470" y="309638"/>
                  </a:lnTo>
                  <a:cubicBezTo>
                    <a:pt x="13642" y="309638"/>
                    <a:pt x="0" y="295996"/>
                    <a:pt x="0" y="279168"/>
                  </a:cubicBezTo>
                  <a:lnTo>
                    <a:pt x="0" y="30470"/>
                  </a:lnTo>
                  <a:cubicBezTo>
                    <a:pt x="0" y="13642"/>
                    <a:pt x="13642" y="0"/>
                    <a:pt x="30470" y="0"/>
                  </a:cubicBezTo>
                  <a:close/>
                </a:path>
              </a:pathLst>
            </a:custGeom>
            <a:solidFill>
              <a:srgbClr val="8B8482">
                <a:alpha val="31765"/>
              </a:srgbClr>
            </a:solidFill>
            <a:ln w="19050" cap="rnd">
              <a:solidFill>
                <a:srgbClr val="8B8482">
                  <a:alpha val="31765"/>
                </a:srgbClr>
              </a:solidFill>
              <a:prstDash val="solid"/>
              <a:round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1548190" cy="319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688692" y="3094803"/>
            <a:ext cx="6098055" cy="1219611"/>
            <a:chOff x="0" y="0"/>
            <a:chExt cx="1548190" cy="30963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548190" cy="309638"/>
            </a:xfrm>
            <a:custGeom>
              <a:avLst/>
              <a:gdLst/>
              <a:ahLst/>
              <a:cxnLst/>
              <a:rect l="l" t="t" r="r" b="b"/>
              <a:pathLst>
                <a:path w="1548190" h="309638">
                  <a:moveTo>
                    <a:pt x="20313" y="0"/>
                  </a:moveTo>
                  <a:lnTo>
                    <a:pt x="1527877" y="0"/>
                  </a:lnTo>
                  <a:cubicBezTo>
                    <a:pt x="1533265" y="0"/>
                    <a:pt x="1538431" y="2140"/>
                    <a:pt x="1542241" y="5950"/>
                  </a:cubicBezTo>
                  <a:cubicBezTo>
                    <a:pt x="1546050" y="9759"/>
                    <a:pt x="1548190" y="14926"/>
                    <a:pt x="1548190" y="20313"/>
                  </a:cubicBezTo>
                  <a:lnTo>
                    <a:pt x="1548190" y="289325"/>
                  </a:lnTo>
                  <a:cubicBezTo>
                    <a:pt x="1548190" y="294712"/>
                    <a:pt x="1546050" y="299879"/>
                    <a:pt x="1542241" y="303689"/>
                  </a:cubicBezTo>
                  <a:cubicBezTo>
                    <a:pt x="1538431" y="307498"/>
                    <a:pt x="1533265" y="309638"/>
                    <a:pt x="1527877" y="309638"/>
                  </a:cubicBezTo>
                  <a:lnTo>
                    <a:pt x="20313" y="309638"/>
                  </a:lnTo>
                  <a:cubicBezTo>
                    <a:pt x="14926" y="309638"/>
                    <a:pt x="9759" y="307498"/>
                    <a:pt x="5950" y="303689"/>
                  </a:cubicBezTo>
                  <a:cubicBezTo>
                    <a:pt x="2140" y="299879"/>
                    <a:pt x="0" y="294712"/>
                    <a:pt x="0" y="289325"/>
                  </a:cubicBezTo>
                  <a:lnTo>
                    <a:pt x="0" y="20313"/>
                  </a:lnTo>
                  <a:cubicBezTo>
                    <a:pt x="0" y="14926"/>
                    <a:pt x="2140" y="9759"/>
                    <a:pt x="5950" y="5950"/>
                  </a:cubicBezTo>
                  <a:cubicBezTo>
                    <a:pt x="9759" y="2140"/>
                    <a:pt x="14926" y="0"/>
                    <a:pt x="203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-9525"/>
              <a:ext cx="1548190" cy="319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891961" y="3298071"/>
            <a:ext cx="813074" cy="813074"/>
            <a:chOff x="0" y="0"/>
            <a:chExt cx="722489" cy="722489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22489" cy="722489"/>
            </a:xfrm>
            <a:custGeom>
              <a:avLst/>
              <a:gdLst/>
              <a:ahLst/>
              <a:cxnLst/>
              <a:rect l="l" t="t" r="r" b="b"/>
              <a:pathLst>
                <a:path w="722489" h="722489">
                  <a:moveTo>
                    <a:pt x="152349" y="0"/>
                  </a:moveTo>
                  <a:lnTo>
                    <a:pt x="570140" y="0"/>
                  </a:lnTo>
                  <a:cubicBezTo>
                    <a:pt x="654280" y="0"/>
                    <a:pt x="722489" y="68209"/>
                    <a:pt x="722489" y="152349"/>
                  </a:cubicBezTo>
                  <a:lnTo>
                    <a:pt x="722489" y="570140"/>
                  </a:lnTo>
                  <a:cubicBezTo>
                    <a:pt x="722489" y="654280"/>
                    <a:pt x="654280" y="722489"/>
                    <a:pt x="570140" y="722489"/>
                  </a:cubicBezTo>
                  <a:lnTo>
                    <a:pt x="152349" y="722489"/>
                  </a:lnTo>
                  <a:cubicBezTo>
                    <a:pt x="111943" y="722489"/>
                    <a:pt x="73193" y="706438"/>
                    <a:pt x="44622" y="677867"/>
                  </a:cubicBezTo>
                  <a:cubicBezTo>
                    <a:pt x="16051" y="649296"/>
                    <a:pt x="0" y="610546"/>
                    <a:pt x="0" y="570140"/>
                  </a:cubicBezTo>
                  <a:lnTo>
                    <a:pt x="0" y="152349"/>
                  </a:lnTo>
                  <a:cubicBezTo>
                    <a:pt x="0" y="68209"/>
                    <a:pt x="68209" y="0"/>
                    <a:pt x="152349" y="0"/>
                  </a:cubicBezTo>
                  <a:close/>
                </a:path>
              </a:pathLst>
            </a:custGeom>
            <a:solidFill>
              <a:srgbClr val="80B8AA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0" y="-9525"/>
              <a:ext cx="722489" cy="732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688692" y="4822585"/>
            <a:ext cx="6098055" cy="1219611"/>
            <a:chOff x="0" y="0"/>
            <a:chExt cx="1548190" cy="30963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548190" cy="309638"/>
            </a:xfrm>
            <a:custGeom>
              <a:avLst/>
              <a:gdLst/>
              <a:ahLst/>
              <a:cxnLst/>
              <a:rect l="l" t="t" r="r" b="b"/>
              <a:pathLst>
                <a:path w="1548190" h="309638">
                  <a:moveTo>
                    <a:pt x="20313" y="0"/>
                  </a:moveTo>
                  <a:lnTo>
                    <a:pt x="1527877" y="0"/>
                  </a:lnTo>
                  <a:cubicBezTo>
                    <a:pt x="1533265" y="0"/>
                    <a:pt x="1538431" y="2140"/>
                    <a:pt x="1542241" y="5950"/>
                  </a:cubicBezTo>
                  <a:cubicBezTo>
                    <a:pt x="1546050" y="9759"/>
                    <a:pt x="1548190" y="14926"/>
                    <a:pt x="1548190" y="20313"/>
                  </a:cubicBezTo>
                  <a:lnTo>
                    <a:pt x="1548190" y="289325"/>
                  </a:lnTo>
                  <a:cubicBezTo>
                    <a:pt x="1548190" y="294712"/>
                    <a:pt x="1546050" y="299879"/>
                    <a:pt x="1542241" y="303689"/>
                  </a:cubicBezTo>
                  <a:cubicBezTo>
                    <a:pt x="1538431" y="307498"/>
                    <a:pt x="1533265" y="309638"/>
                    <a:pt x="1527877" y="309638"/>
                  </a:cubicBezTo>
                  <a:lnTo>
                    <a:pt x="20313" y="309638"/>
                  </a:lnTo>
                  <a:cubicBezTo>
                    <a:pt x="14926" y="309638"/>
                    <a:pt x="9759" y="307498"/>
                    <a:pt x="5950" y="303689"/>
                  </a:cubicBezTo>
                  <a:cubicBezTo>
                    <a:pt x="2140" y="299879"/>
                    <a:pt x="0" y="294712"/>
                    <a:pt x="0" y="289325"/>
                  </a:cubicBezTo>
                  <a:lnTo>
                    <a:pt x="0" y="20313"/>
                  </a:lnTo>
                  <a:cubicBezTo>
                    <a:pt x="0" y="14926"/>
                    <a:pt x="2140" y="9759"/>
                    <a:pt x="5950" y="5950"/>
                  </a:cubicBezTo>
                  <a:cubicBezTo>
                    <a:pt x="9759" y="2140"/>
                    <a:pt x="14926" y="0"/>
                    <a:pt x="203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0" y="-9525"/>
              <a:ext cx="1548190" cy="319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891961" y="5025853"/>
            <a:ext cx="813074" cy="813074"/>
            <a:chOff x="0" y="0"/>
            <a:chExt cx="722489" cy="722489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722489" cy="722489"/>
            </a:xfrm>
            <a:custGeom>
              <a:avLst/>
              <a:gdLst/>
              <a:ahLst/>
              <a:cxnLst/>
              <a:rect l="l" t="t" r="r" b="b"/>
              <a:pathLst>
                <a:path w="722489" h="722489">
                  <a:moveTo>
                    <a:pt x="152349" y="0"/>
                  </a:moveTo>
                  <a:lnTo>
                    <a:pt x="570140" y="0"/>
                  </a:lnTo>
                  <a:cubicBezTo>
                    <a:pt x="654280" y="0"/>
                    <a:pt x="722489" y="68209"/>
                    <a:pt x="722489" y="152349"/>
                  </a:cubicBezTo>
                  <a:lnTo>
                    <a:pt x="722489" y="570140"/>
                  </a:lnTo>
                  <a:cubicBezTo>
                    <a:pt x="722489" y="654280"/>
                    <a:pt x="654280" y="722489"/>
                    <a:pt x="570140" y="722489"/>
                  </a:cubicBezTo>
                  <a:lnTo>
                    <a:pt x="152349" y="722489"/>
                  </a:lnTo>
                  <a:cubicBezTo>
                    <a:pt x="111943" y="722489"/>
                    <a:pt x="73193" y="706438"/>
                    <a:pt x="44622" y="677867"/>
                  </a:cubicBezTo>
                  <a:cubicBezTo>
                    <a:pt x="16051" y="649296"/>
                    <a:pt x="0" y="610546"/>
                    <a:pt x="0" y="570140"/>
                  </a:cubicBezTo>
                  <a:lnTo>
                    <a:pt x="0" y="152349"/>
                  </a:lnTo>
                  <a:cubicBezTo>
                    <a:pt x="0" y="68209"/>
                    <a:pt x="68209" y="0"/>
                    <a:pt x="152349" y="0"/>
                  </a:cubicBezTo>
                  <a:close/>
                </a:path>
              </a:pathLst>
            </a:custGeom>
            <a:solidFill>
              <a:srgbClr val="6EAADB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0" y="-9525"/>
              <a:ext cx="722489" cy="732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688692" y="6550367"/>
            <a:ext cx="6098055" cy="1219611"/>
            <a:chOff x="0" y="0"/>
            <a:chExt cx="1548190" cy="30963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548190" cy="309638"/>
            </a:xfrm>
            <a:custGeom>
              <a:avLst/>
              <a:gdLst/>
              <a:ahLst/>
              <a:cxnLst/>
              <a:rect l="l" t="t" r="r" b="b"/>
              <a:pathLst>
                <a:path w="1548190" h="309638">
                  <a:moveTo>
                    <a:pt x="20313" y="0"/>
                  </a:moveTo>
                  <a:lnTo>
                    <a:pt x="1527877" y="0"/>
                  </a:lnTo>
                  <a:cubicBezTo>
                    <a:pt x="1533265" y="0"/>
                    <a:pt x="1538431" y="2140"/>
                    <a:pt x="1542241" y="5950"/>
                  </a:cubicBezTo>
                  <a:cubicBezTo>
                    <a:pt x="1546050" y="9759"/>
                    <a:pt x="1548190" y="14926"/>
                    <a:pt x="1548190" y="20313"/>
                  </a:cubicBezTo>
                  <a:lnTo>
                    <a:pt x="1548190" y="289325"/>
                  </a:lnTo>
                  <a:cubicBezTo>
                    <a:pt x="1548190" y="294712"/>
                    <a:pt x="1546050" y="299879"/>
                    <a:pt x="1542241" y="303689"/>
                  </a:cubicBezTo>
                  <a:cubicBezTo>
                    <a:pt x="1538431" y="307498"/>
                    <a:pt x="1533265" y="309638"/>
                    <a:pt x="1527877" y="309638"/>
                  </a:cubicBezTo>
                  <a:lnTo>
                    <a:pt x="20313" y="309638"/>
                  </a:lnTo>
                  <a:cubicBezTo>
                    <a:pt x="14926" y="309638"/>
                    <a:pt x="9759" y="307498"/>
                    <a:pt x="5950" y="303689"/>
                  </a:cubicBezTo>
                  <a:cubicBezTo>
                    <a:pt x="2140" y="299879"/>
                    <a:pt x="0" y="294712"/>
                    <a:pt x="0" y="289325"/>
                  </a:cubicBezTo>
                  <a:lnTo>
                    <a:pt x="0" y="20313"/>
                  </a:lnTo>
                  <a:cubicBezTo>
                    <a:pt x="0" y="14926"/>
                    <a:pt x="2140" y="9759"/>
                    <a:pt x="5950" y="5950"/>
                  </a:cubicBezTo>
                  <a:cubicBezTo>
                    <a:pt x="9759" y="2140"/>
                    <a:pt x="14926" y="0"/>
                    <a:pt x="203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0" y="-9525"/>
              <a:ext cx="1548190" cy="319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891961" y="6753636"/>
            <a:ext cx="813074" cy="813074"/>
            <a:chOff x="0" y="0"/>
            <a:chExt cx="722489" cy="722489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722489" cy="722489"/>
            </a:xfrm>
            <a:custGeom>
              <a:avLst/>
              <a:gdLst/>
              <a:ahLst/>
              <a:cxnLst/>
              <a:rect l="l" t="t" r="r" b="b"/>
              <a:pathLst>
                <a:path w="722489" h="722489">
                  <a:moveTo>
                    <a:pt x="152349" y="0"/>
                  </a:moveTo>
                  <a:lnTo>
                    <a:pt x="570140" y="0"/>
                  </a:lnTo>
                  <a:cubicBezTo>
                    <a:pt x="654280" y="0"/>
                    <a:pt x="722489" y="68209"/>
                    <a:pt x="722489" y="152349"/>
                  </a:cubicBezTo>
                  <a:lnTo>
                    <a:pt x="722489" y="570140"/>
                  </a:lnTo>
                  <a:cubicBezTo>
                    <a:pt x="722489" y="654280"/>
                    <a:pt x="654280" y="722489"/>
                    <a:pt x="570140" y="722489"/>
                  </a:cubicBezTo>
                  <a:lnTo>
                    <a:pt x="152349" y="722489"/>
                  </a:lnTo>
                  <a:cubicBezTo>
                    <a:pt x="111943" y="722489"/>
                    <a:pt x="73193" y="706438"/>
                    <a:pt x="44622" y="677867"/>
                  </a:cubicBezTo>
                  <a:cubicBezTo>
                    <a:pt x="16051" y="649296"/>
                    <a:pt x="0" y="610546"/>
                    <a:pt x="0" y="570140"/>
                  </a:cubicBezTo>
                  <a:lnTo>
                    <a:pt x="0" y="152349"/>
                  </a:lnTo>
                  <a:cubicBezTo>
                    <a:pt x="0" y="68209"/>
                    <a:pt x="68209" y="0"/>
                    <a:pt x="152349" y="0"/>
                  </a:cubicBezTo>
                  <a:close/>
                </a:path>
              </a:pathLst>
            </a:custGeom>
            <a:solidFill>
              <a:srgbClr val="A480B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0" y="-9525"/>
              <a:ext cx="722489" cy="732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0908303" y="3489482"/>
            <a:ext cx="4065370" cy="43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87"/>
              </a:lnSpc>
              <a:spcBef>
                <a:spcPct val="0"/>
              </a:spcBef>
            </a:pPr>
            <a:r>
              <a:rPr lang="en-US" sz="2823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Proposed Solution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891961" y="3513132"/>
            <a:ext cx="813074" cy="449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sz="338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05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0908303" y="5052194"/>
            <a:ext cx="4065370" cy="43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87"/>
              </a:lnSpc>
              <a:spcBef>
                <a:spcPct val="0"/>
              </a:spcBef>
            </a:pPr>
            <a:r>
              <a:rPr lang="en-US" sz="2823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Architecture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891961" y="5240914"/>
            <a:ext cx="813074" cy="449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sz="338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06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908303" y="6945047"/>
            <a:ext cx="4065370" cy="43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87"/>
              </a:lnSpc>
              <a:spcBef>
                <a:spcPct val="0"/>
              </a:spcBef>
            </a:pPr>
            <a:r>
              <a:rPr lang="en-US" sz="2823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Conclusion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891961" y="6968696"/>
            <a:ext cx="813074" cy="449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sz="338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07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3472124" y="493089"/>
            <a:ext cx="11935658" cy="1123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TABLE OF 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86275"/>
            <a:ext cx="8677099" cy="1123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INTROUCTION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11660091" y="1841912"/>
            <a:ext cx="6230997" cy="6603176"/>
          </a:xfrm>
          <a:custGeom>
            <a:avLst/>
            <a:gdLst/>
            <a:ahLst/>
            <a:cxnLst/>
            <a:rect l="l" t="t" r="r" b="b"/>
            <a:pathLst>
              <a:path w="6230997" h="6603176">
                <a:moveTo>
                  <a:pt x="0" y="0"/>
                </a:moveTo>
                <a:lnTo>
                  <a:pt x="6230998" y="0"/>
                </a:lnTo>
                <a:lnTo>
                  <a:pt x="6230998" y="6603176"/>
                </a:lnTo>
                <a:lnTo>
                  <a:pt x="0" y="6603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79586" y="2221783"/>
            <a:ext cx="9671086" cy="757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8592" lvl="1" indent="-334296" algn="l">
              <a:lnSpc>
                <a:spcPts val="4335"/>
              </a:lnSpc>
              <a:buFont typeface="Arial"/>
              <a:buChar char="•"/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Project Title: Chain of Diagnosis (CoD) – An Interpretable Medical Agent for Transparent Disease Diagnosis.</a:t>
            </a:r>
          </a:p>
          <a:p>
            <a:pPr algn="l">
              <a:lnSpc>
                <a:spcPts val="4335"/>
              </a:lnSpc>
            </a:pPr>
            <a:endParaRPr lang="en-US" sz="3096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668592" lvl="1" indent="-334296" algn="l">
              <a:lnSpc>
                <a:spcPts val="4335"/>
              </a:lnSpc>
              <a:buFont typeface="Arial"/>
              <a:buChar char="•"/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Base Paper: “CoD: Towards an Interpretable Medical Agent Using Chain of Diagnosis” (Junying Chen et al., 2024).</a:t>
            </a:r>
          </a:p>
          <a:p>
            <a:pPr algn="l">
              <a:lnSpc>
                <a:spcPts val="4335"/>
              </a:lnSpc>
            </a:pPr>
            <a:endParaRPr lang="en-US" sz="3096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668592" lvl="1" indent="-334296" algn="l">
              <a:lnSpc>
                <a:spcPts val="4335"/>
              </a:lnSpc>
              <a:buFont typeface="Arial"/>
              <a:buChar char="•"/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Tech Agents: Utilizes Large Language Models (LLMs) and a five-step diagnostic agent system — Symptom Abstraction, Disease Recall, Diagnostic Reasoning, Confidence Assessment, and Decision Making.</a:t>
            </a:r>
          </a:p>
          <a:p>
            <a:pPr algn="l">
              <a:lnSpc>
                <a:spcPts val="4335"/>
              </a:lnSpc>
            </a:pPr>
            <a:endParaRPr lang="en-US" sz="3096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7389" y="710393"/>
            <a:ext cx="16941911" cy="975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b="1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UNDERSTANDING BASE PAPER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442278" y="3309290"/>
            <a:ext cx="3941514" cy="802695"/>
            <a:chOff x="0" y="0"/>
            <a:chExt cx="1038094" cy="21140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8094" cy="211409"/>
            </a:xfrm>
            <a:custGeom>
              <a:avLst/>
              <a:gdLst/>
              <a:ahLst/>
              <a:cxnLst/>
              <a:rect l="l" t="t" r="r" b="b"/>
              <a:pathLst>
                <a:path w="1038094" h="211409">
                  <a:moveTo>
                    <a:pt x="105705" y="0"/>
                  </a:moveTo>
                  <a:lnTo>
                    <a:pt x="932390" y="0"/>
                  </a:lnTo>
                  <a:cubicBezTo>
                    <a:pt x="960424" y="0"/>
                    <a:pt x="987311" y="11137"/>
                    <a:pt x="1007134" y="30960"/>
                  </a:cubicBezTo>
                  <a:cubicBezTo>
                    <a:pt x="1026957" y="50784"/>
                    <a:pt x="1038094" y="77670"/>
                    <a:pt x="1038094" y="105705"/>
                  </a:cubicBezTo>
                  <a:lnTo>
                    <a:pt x="1038094" y="105705"/>
                  </a:lnTo>
                  <a:cubicBezTo>
                    <a:pt x="1038094" y="133739"/>
                    <a:pt x="1026957" y="160626"/>
                    <a:pt x="1007134" y="180449"/>
                  </a:cubicBezTo>
                  <a:cubicBezTo>
                    <a:pt x="987311" y="200273"/>
                    <a:pt x="960424" y="211409"/>
                    <a:pt x="932390" y="211409"/>
                  </a:cubicBezTo>
                  <a:lnTo>
                    <a:pt x="105705" y="211409"/>
                  </a:lnTo>
                  <a:cubicBezTo>
                    <a:pt x="77670" y="211409"/>
                    <a:pt x="50784" y="200273"/>
                    <a:pt x="30960" y="180449"/>
                  </a:cubicBezTo>
                  <a:cubicBezTo>
                    <a:pt x="11137" y="160626"/>
                    <a:pt x="0" y="133739"/>
                    <a:pt x="0" y="105705"/>
                  </a:cubicBezTo>
                  <a:lnTo>
                    <a:pt x="0" y="105705"/>
                  </a:lnTo>
                  <a:cubicBezTo>
                    <a:pt x="0" y="77670"/>
                    <a:pt x="11137" y="50784"/>
                    <a:pt x="30960" y="30960"/>
                  </a:cubicBezTo>
                  <a:cubicBezTo>
                    <a:pt x="50784" y="11137"/>
                    <a:pt x="77670" y="0"/>
                    <a:pt x="105705" y="0"/>
                  </a:cubicBezTo>
                  <a:close/>
                </a:path>
              </a:pathLst>
            </a:custGeom>
            <a:solidFill>
              <a:srgbClr val="6ECEF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1038094" cy="173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248101" y="3539187"/>
            <a:ext cx="4329868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b="1">
                <a:solidFill>
                  <a:srgbClr val="034172"/>
                </a:solidFill>
                <a:latin typeface="Livvic Bold"/>
                <a:ea typeface="Livvic Bold"/>
                <a:cs typeface="Livvic Bold"/>
                <a:sym typeface="Livvic Bold"/>
              </a:rPr>
              <a:t>KEY IDEA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586937"/>
            <a:ext cx="7367957" cy="324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35"/>
              </a:lnSpc>
              <a:spcBef>
                <a:spcPct val="0"/>
              </a:spcBef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T</a:t>
            </a:r>
            <a:r>
              <a:rPr lang="en-US" sz="3096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he base paper introduces the Chain of Diagnosis (CoD) — a transparent diagnostic framework that mirrors how doctors think. It breaks the diagnosis into clear steps, allowing the model to explain why and how each disease is predicted.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255799" y="2764108"/>
            <a:ext cx="4639045" cy="802695"/>
            <a:chOff x="0" y="0"/>
            <a:chExt cx="1221806" cy="2114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1806" cy="211409"/>
            </a:xfrm>
            <a:custGeom>
              <a:avLst/>
              <a:gdLst/>
              <a:ahLst/>
              <a:cxnLst/>
              <a:rect l="l" t="t" r="r" b="b"/>
              <a:pathLst>
                <a:path w="1221806" h="211409">
                  <a:moveTo>
                    <a:pt x="105705" y="0"/>
                  </a:moveTo>
                  <a:lnTo>
                    <a:pt x="1116102" y="0"/>
                  </a:lnTo>
                  <a:cubicBezTo>
                    <a:pt x="1174481" y="0"/>
                    <a:pt x="1221806" y="47326"/>
                    <a:pt x="1221806" y="105705"/>
                  </a:cubicBezTo>
                  <a:lnTo>
                    <a:pt x="1221806" y="105705"/>
                  </a:lnTo>
                  <a:cubicBezTo>
                    <a:pt x="1221806" y="133739"/>
                    <a:pt x="1210670" y="160626"/>
                    <a:pt x="1190846" y="180449"/>
                  </a:cubicBezTo>
                  <a:cubicBezTo>
                    <a:pt x="1171023" y="200273"/>
                    <a:pt x="1144136" y="211409"/>
                    <a:pt x="1116102" y="211409"/>
                  </a:cubicBezTo>
                  <a:lnTo>
                    <a:pt x="105705" y="211409"/>
                  </a:lnTo>
                  <a:cubicBezTo>
                    <a:pt x="77670" y="211409"/>
                    <a:pt x="50784" y="200273"/>
                    <a:pt x="30960" y="180449"/>
                  </a:cubicBezTo>
                  <a:cubicBezTo>
                    <a:pt x="11137" y="160626"/>
                    <a:pt x="0" y="133739"/>
                    <a:pt x="0" y="105705"/>
                  </a:cubicBezTo>
                  <a:lnTo>
                    <a:pt x="0" y="105705"/>
                  </a:lnTo>
                  <a:cubicBezTo>
                    <a:pt x="0" y="77670"/>
                    <a:pt x="11137" y="50784"/>
                    <a:pt x="30960" y="30960"/>
                  </a:cubicBezTo>
                  <a:cubicBezTo>
                    <a:pt x="50784" y="11137"/>
                    <a:pt x="77670" y="0"/>
                    <a:pt x="105705" y="0"/>
                  </a:cubicBezTo>
                  <a:close/>
                </a:path>
              </a:pathLst>
            </a:custGeom>
            <a:solidFill>
              <a:srgbClr val="6ECEF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38100"/>
              <a:ext cx="1221806" cy="173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410388" y="2994005"/>
            <a:ext cx="4329868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b="1">
                <a:solidFill>
                  <a:srgbClr val="034172"/>
                </a:solidFill>
                <a:latin typeface="Livvic Bold"/>
                <a:ea typeface="Livvic Bold"/>
                <a:cs typeface="Livvic Bold"/>
                <a:sym typeface="Livvic Bold"/>
              </a:rPr>
              <a:t>PROBLEM SOLVED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91343" y="3882087"/>
            <a:ext cx="7367957" cy="5950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8592" lvl="1" indent="-334296" algn="l">
              <a:lnSpc>
                <a:spcPts val="4335"/>
              </a:lnSpc>
              <a:spcBef>
                <a:spcPct val="0"/>
              </a:spcBef>
              <a:buFont typeface="Arial"/>
              <a:buChar char="•"/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L</a:t>
            </a:r>
            <a:r>
              <a:rPr lang="en-US" sz="3096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ack of Interpretability: Traditional LLMs act like black boxes; CoD makes their reasoning process explainable.</a:t>
            </a:r>
          </a:p>
          <a:p>
            <a:pPr marL="668592" lvl="1" indent="-334296" algn="l">
              <a:lnSpc>
                <a:spcPts val="4335"/>
              </a:lnSpc>
              <a:spcBef>
                <a:spcPct val="0"/>
              </a:spcBef>
              <a:buFont typeface="Arial"/>
              <a:buChar char="•"/>
            </a:pPr>
            <a:r>
              <a:rPr lang="en-US" sz="3096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Unreliable Diagnoses: By using confidence scores and entropy reduction, CoD ensures trustworthy and controlled decisions.</a:t>
            </a:r>
          </a:p>
          <a:p>
            <a:pPr marL="668592" lvl="1" indent="-334296" algn="l">
              <a:lnSpc>
                <a:spcPts val="4335"/>
              </a:lnSpc>
              <a:spcBef>
                <a:spcPct val="0"/>
              </a:spcBef>
              <a:buFont typeface="Arial"/>
              <a:buChar char="•"/>
            </a:pPr>
            <a:r>
              <a:rPr lang="en-US" sz="3096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Limited Data Access: Synthetic patient data generation allows large-scale, privacy-safe medical training.</a:t>
            </a:r>
          </a:p>
          <a:p>
            <a:pPr marL="0" lvl="0" indent="0" algn="l">
              <a:lnSpc>
                <a:spcPts val="4335"/>
              </a:lnSpc>
              <a:spcBef>
                <a:spcPct val="0"/>
              </a:spcBef>
            </a:pPr>
            <a:endParaRPr lang="en-US" sz="3096" u="none" strike="noStrike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1801" y="1688861"/>
            <a:ext cx="15138877" cy="1513887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061" tIns="48061" rIns="48061" bIns="48061" rtlCol="0" anchor="ctr"/>
            <a:lstStyle/>
            <a:p>
              <a:pPr algn="ctr">
                <a:lnSpc>
                  <a:spcPts val="1854"/>
                </a:lnSpc>
              </a:pPr>
              <a:endParaRPr/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1117340" y="1394401"/>
            <a:ext cx="15727798" cy="15727798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3294388" y="5155978"/>
            <a:ext cx="3568347" cy="2610326"/>
          </a:xfrm>
          <a:prstGeom prst="line">
            <a:avLst/>
          </a:prstGeom>
          <a:ln w="2857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6942233" y="2498720"/>
            <a:ext cx="1267772" cy="4175120"/>
          </a:xfrm>
          <a:prstGeom prst="line">
            <a:avLst/>
          </a:prstGeom>
          <a:ln w="2857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flipH="1">
            <a:off x="9825276" y="2705051"/>
            <a:ext cx="1428899" cy="4007911"/>
          </a:xfrm>
          <a:prstGeom prst="line">
            <a:avLst/>
          </a:prstGeom>
          <a:ln w="2857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H="1">
            <a:off x="11381003" y="5047304"/>
            <a:ext cx="3372927" cy="2535127"/>
          </a:xfrm>
          <a:prstGeom prst="line">
            <a:avLst/>
          </a:prstGeom>
          <a:ln w="2857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529847" y="9258300"/>
            <a:ext cx="16902785" cy="1244476"/>
            <a:chOff x="0" y="0"/>
            <a:chExt cx="4033349" cy="2969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33349" cy="296957"/>
            </a:xfrm>
            <a:custGeom>
              <a:avLst/>
              <a:gdLst/>
              <a:ahLst/>
              <a:cxnLst/>
              <a:rect l="l" t="t" r="r" b="b"/>
              <a:pathLst>
                <a:path w="4033349" h="296957">
                  <a:moveTo>
                    <a:pt x="0" y="0"/>
                  </a:moveTo>
                  <a:lnTo>
                    <a:pt x="4033349" y="0"/>
                  </a:lnTo>
                  <a:lnTo>
                    <a:pt x="4033349" y="296957"/>
                  </a:lnTo>
                  <a:lnTo>
                    <a:pt x="0" y="296957"/>
                  </a:ln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4033349" cy="325532"/>
            </a:xfrm>
            <a:prstGeom prst="rect">
              <a:avLst/>
            </a:prstGeom>
          </p:spPr>
          <p:txBody>
            <a:bodyPr lIns="48061" tIns="48061" rIns="48061" bIns="48061" rtlCol="0" anchor="ctr"/>
            <a:lstStyle/>
            <a:p>
              <a:pPr algn="ctr">
                <a:lnSpc>
                  <a:spcPts val="185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7208964" y="4696110"/>
            <a:ext cx="3544551" cy="5806666"/>
          </a:xfrm>
          <a:custGeom>
            <a:avLst/>
            <a:gdLst/>
            <a:ahLst/>
            <a:cxnLst/>
            <a:rect l="l" t="t" r="r" b="b"/>
            <a:pathLst>
              <a:path w="3544551" h="5806666">
                <a:moveTo>
                  <a:pt x="0" y="0"/>
                </a:moveTo>
                <a:lnTo>
                  <a:pt x="3544551" y="0"/>
                </a:lnTo>
                <a:lnTo>
                  <a:pt x="3544551" y="5806666"/>
                </a:lnTo>
                <a:lnTo>
                  <a:pt x="0" y="58066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2631945" y="8621136"/>
            <a:ext cx="457415" cy="45741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061" tIns="48061" rIns="48061" bIns="48061" rtlCol="0" anchor="ctr"/>
            <a:lstStyle/>
            <a:p>
              <a:pPr algn="ctr">
                <a:lnSpc>
                  <a:spcPts val="1854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209599" y="5010247"/>
            <a:ext cx="457415" cy="45741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061" tIns="48061" rIns="48061" bIns="48061" rtlCol="0" anchor="ctr"/>
            <a:lstStyle/>
            <a:p>
              <a:pPr algn="ctr">
                <a:lnSpc>
                  <a:spcPts val="1854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61334" y="3001228"/>
            <a:ext cx="457415" cy="45741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061" tIns="48061" rIns="48061" bIns="48061" rtlCol="0" anchor="ctr"/>
            <a:lstStyle/>
            <a:p>
              <a:pPr algn="ctr">
                <a:lnSpc>
                  <a:spcPts val="1854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296618" y="3458644"/>
            <a:ext cx="457415" cy="45741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061" tIns="48061" rIns="48061" bIns="48061" rtlCol="0" anchor="ctr"/>
            <a:lstStyle/>
            <a:p>
              <a:pPr algn="ctr">
                <a:lnSpc>
                  <a:spcPts val="1854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050981" y="5902989"/>
            <a:ext cx="457415" cy="45741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061" tIns="48061" rIns="48061" bIns="48061" rtlCol="0" anchor="ctr"/>
            <a:lstStyle/>
            <a:p>
              <a:pPr algn="ctr">
                <a:lnSpc>
                  <a:spcPts val="1854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2631945" y="8736492"/>
            <a:ext cx="457415" cy="255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2"/>
              </a:lnSpc>
            </a:pPr>
            <a:r>
              <a:rPr lang="en-US" sz="1862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209599" y="5125603"/>
            <a:ext cx="457415" cy="255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2"/>
              </a:lnSpc>
            </a:pPr>
            <a:r>
              <a:rPr lang="en-US" sz="1862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61334" y="3116584"/>
            <a:ext cx="457415" cy="255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2"/>
              </a:lnSpc>
            </a:pPr>
            <a:r>
              <a:rPr lang="en-US" sz="1862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96618" y="3573999"/>
            <a:ext cx="457415" cy="255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2"/>
              </a:lnSpc>
            </a:pPr>
            <a:r>
              <a:rPr lang="en-US" sz="1862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050981" y="6018345"/>
            <a:ext cx="457415" cy="255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2"/>
              </a:lnSpc>
            </a:pPr>
            <a:r>
              <a:rPr lang="en-US" sz="1862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776945" y="7385304"/>
            <a:ext cx="3135149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40404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SYMPTOM</a:t>
            </a:r>
          </a:p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40404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ABSTRACTION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078562" y="4576755"/>
            <a:ext cx="2260901" cy="748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0"/>
              </a:lnSpc>
            </a:pPr>
            <a:r>
              <a:rPr lang="en-US" sz="2483" b="1">
                <a:solidFill>
                  <a:srgbClr val="40404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DISEASE </a:t>
            </a:r>
          </a:p>
          <a:p>
            <a:pPr algn="ctr">
              <a:lnSpc>
                <a:spcPts val="2980"/>
              </a:lnSpc>
            </a:pPr>
            <a:r>
              <a:rPr lang="en-US" sz="2483" b="1">
                <a:solidFill>
                  <a:srgbClr val="40404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RECALL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018750" y="3566500"/>
            <a:ext cx="2260901" cy="748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0"/>
              </a:lnSpc>
            </a:pPr>
            <a:r>
              <a:rPr lang="en-US" sz="2483" b="1">
                <a:solidFill>
                  <a:srgbClr val="40404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DIAGNOSTIC</a:t>
            </a:r>
          </a:p>
          <a:p>
            <a:pPr algn="ctr">
              <a:lnSpc>
                <a:spcPts val="2980"/>
              </a:lnSpc>
            </a:pPr>
            <a:r>
              <a:rPr lang="en-US" sz="2483" b="1">
                <a:solidFill>
                  <a:srgbClr val="40404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RECOGNITION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806565" y="5186556"/>
            <a:ext cx="2260901" cy="748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0"/>
              </a:lnSpc>
            </a:pPr>
            <a:r>
              <a:rPr lang="en-US" sz="2483" b="1">
                <a:solidFill>
                  <a:srgbClr val="40404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CONFIDENCE</a:t>
            </a:r>
          </a:p>
          <a:p>
            <a:pPr algn="ctr">
              <a:lnSpc>
                <a:spcPts val="2980"/>
              </a:lnSpc>
            </a:pPr>
            <a:r>
              <a:rPr lang="en-US" sz="2483" b="1">
                <a:solidFill>
                  <a:srgbClr val="40404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ASSESSMENT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557170" y="7685178"/>
            <a:ext cx="2260901" cy="748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0"/>
              </a:lnSpc>
            </a:pPr>
            <a:r>
              <a:rPr lang="en-US" sz="2483" b="1">
                <a:solidFill>
                  <a:srgbClr val="40404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DECISION </a:t>
            </a:r>
          </a:p>
          <a:p>
            <a:pPr algn="ctr">
              <a:lnSpc>
                <a:spcPts val="2980"/>
              </a:lnSpc>
            </a:pPr>
            <a:r>
              <a:rPr lang="en-US" sz="2483" b="1">
                <a:solidFill>
                  <a:srgbClr val="40404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MAKING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031263" y="298846"/>
            <a:ext cx="10225475" cy="1123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COD FRAMEWOK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0589" y="332193"/>
            <a:ext cx="12518489" cy="1123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PROBLEM DEFINITION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2774" y="1834257"/>
            <a:ext cx="17062452" cy="866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3096" b="1">
                <a:solidFill>
                  <a:srgbClr val="034172"/>
                </a:solidFill>
                <a:latin typeface="Livvic Bold"/>
                <a:ea typeface="Livvic Bold"/>
                <a:cs typeface="Livvic Bold"/>
                <a:sym typeface="Livvic Bold"/>
              </a:rPr>
              <a:t>What Problems Are We Solving?</a:t>
            </a:r>
          </a:p>
          <a:p>
            <a:pPr marL="668592" lvl="1" indent="-334296" algn="l">
              <a:lnSpc>
                <a:spcPts val="4335"/>
              </a:lnSpc>
              <a:buFont typeface="Arial"/>
              <a:buChar char="•"/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 Current LLM-based medical systems fail to explain how diagnoses are made. They act as black boxes, offering results without clear reasoning or medical justification.</a:t>
            </a:r>
          </a:p>
          <a:p>
            <a:pPr marL="668592" lvl="1" indent="-334296" algn="l">
              <a:lnSpc>
                <a:spcPts val="4335"/>
              </a:lnSpc>
              <a:buFont typeface="Arial"/>
              <a:buChar char="•"/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 Additionally, they cannot adapt or learn interactively from patient responses during the diagnostic process, limiting their effectiveness in real consultations.</a:t>
            </a:r>
          </a:p>
          <a:p>
            <a:pPr algn="l">
              <a:lnSpc>
                <a:spcPts val="4335"/>
              </a:lnSpc>
            </a:pPr>
            <a:endParaRPr lang="en-US" sz="3096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l">
              <a:lnSpc>
                <a:spcPts val="4335"/>
              </a:lnSpc>
            </a:pPr>
            <a:r>
              <a:rPr lang="en-US" sz="3096" b="1">
                <a:solidFill>
                  <a:srgbClr val="034172"/>
                </a:solidFill>
                <a:latin typeface="Livvic Bold"/>
                <a:ea typeface="Livvic Bold"/>
                <a:cs typeface="Livvic Bold"/>
                <a:sym typeface="Livvic Bold"/>
              </a:rPr>
              <a:t>Challenges:</a:t>
            </a:r>
          </a:p>
          <a:p>
            <a:pPr marL="668592" lvl="1" indent="-334296" algn="l">
              <a:lnSpc>
                <a:spcPts val="4335"/>
              </a:lnSpc>
              <a:buFont typeface="Arial"/>
              <a:buChar char="•"/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Lack of interpretability and transparency in diagnostic reasoning.</a:t>
            </a:r>
          </a:p>
          <a:p>
            <a:pPr marL="668592" lvl="1" indent="-334296" algn="l">
              <a:lnSpc>
                <a:spcPts val="4335"/>
              </a:lnSpc>
              <a:buFont typeface="Arial"/>
              <a:buChar char="•"/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Risk of hallucinations and unreliable predictions from LLMs.</a:t>
            </a:r>
          </a:p>
          <a:p>
            <a:pPr marL="668592" lvl="1" indent="-334296" algn="l">
              <a:lnSpc>
                <a:spcPts val="4335"/>
              </a:lnSpc>
              <a:buFont typeface="Arial"/>
              <a:buChar char="•"/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Difficulty in balancing accuracy with the number of symptom inquiries.</a:t>
            </a:r>
          </a:p>
          <a:p>
            <a:pPr algn="l">
              <a:lnSpc>
                <a:spcPts val="4335"/>
              </a:lnSpc>
            </a:pPr>
            <a:endParaRPr lang="en-US" sz="3096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l">
              <a:lnSpc>
                <a:spcPts val="4335"/>
              </a:lnSpc>
            </a:pPr>
            <a:r>
              <a:rPr lang="en-US" sz="3096" b="1">
                <a:solidFill>
                  <a:srgbClr val="034172"/>
                </a:solidFill>
                <a:latin typeface="Livvic Bold"/>
                <a:ea typeface="Livvic Bold"/>
                <a:cs typeface="Livvic Bold"/>
                <a:sym typeface="Livvic Bold"/>
              </a:rPr>
              <a:t>Why It’s Important:</a:t>
            </a:r>
          </a:p>
          <a:p>
            <a:pPr marL="668592" lvl="1" indent="-334296" algn="l">
              <a:lnSpc>
                <a:spcPts val="4335"/>
              </a:lnSpc>
              <a:buFont typeface="Arial"/>
              <a:buChar char="•"/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Builds trust between clinicians and AI systems.</a:t>
            </a:r>
          </a:p>
          <a:p>
            <a:pPr marL="668592" lvl="1" indent="-334296" algn="l">
              <a:lnSpc>
                <a:spcPts val="4335"/>
              </a:lnSpc>
              <a:buFont typeface="Arial"/>
              <a:buChar char="•"/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Enables explainable and ethical medical decision-making.</a:t>
            </a:r>
          </a:p>
          <a:p>
            <a:pPr marL="668592" lvl="1" indent="-334296" algn="l">
              <a:lnSpc>
                <a:spcPts val="4335"/>
              </a:lnSpc>
              <a:buFont typeface="Arial"/>
              <a:buChar char="•"/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Helps reduce diagnostic errors and uncertainty, improving patient outcomes.</a:t>
            </a:r>
          </a:p>
          <a:p>
            <a:pPr algn="l">
              <a:lnSpc>
                <a:spcPts val="4335"/>
              </a:lnSpc>
            </a:pPr>
            <a:endParaRPr lang="en-US" sz="3096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9701" y="306200"/>
            <a:ext cx="6309908" cy="9634071"/>
            <a:chOff x="0" y="0"/>
            <a:chExt cx="1465782" cy="22379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5782" cy="2237980"/>
            </a:xfrm>
            <a:custGeom>
              <a:avLst/>
              <a:gdLst/>
              <a:ahLst/>
              <a:cxnLst/>
              <a:rect l="l" t="t" r="r" b="b"/>
              <a:pathLst>
                <a:path w="1465782" h="2237980">
                  <a:moveTo>
                    <a:pt x="1341322" y="2237980"/>
                  </a:moveTo>
                  <a:lnTo>
                    <a:pt x="124460" y="2237980"/>
                  </a:lnTo>
                  <a:cubicBezTo>
                    <a:pt x="55880" y="2237980"/>
                    <a:pt x="0" y="2182100"/>
                    <a:pt x="0" y="211352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341322" y="0"/>
                  </a:lnTo>
                  <a:cubicBezTo>
                    <a:pt x="1409902" y="0"/>
                    <a:pt x="1465782" y="55880"/>
                    <a:pt x="1465782" y="124460"/>
                  </a:cubicBezTo>
                  <a:lnTo>
                    <a:pt x="1465782" y="2113520"/>
                  </a:lnTo>
                  <a:cubicBezTo>
                    <a:pt x="1465782" y="2182100"/>
                    <a:pt x="1409902" y="2237980"/>
                    <a:pt x="1341322" y="2237980"/>
                  </a:cubicBezTo>
                  <a:close/>
                </a:path>
              </a:pathLst>
            </a:custGeom>
            <a:solidFill>
              <a:srgbClr val="A8CBB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376936" y="476769"/>
            <a:ext cx="6684994" cy="9463502"/>
            <a:chOff x="0" y="0"/>
            <a:chExt cx="1424187" cy="20161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24187" cy="2016127"/>
            </a:xfrm>
            <a:custGeom>
              <a:avLst/>
              <a:gdLst/>
              <a:ahLst/>
              <a:cxnLst/>
              <a:rect l="l" t="t" r="r" b="b"/>
              <a:pathLst>
                <a:path w="1424187" h="2016127">
                  <a:moveTo>
                    <a:pt x="1299727" y="2016127"/>
                  </a:moveTo>
                  <a:lnTo>
                    <a:pt x="124460" y="2016127"/>
                  </a:lnTo>
                  <a:cubicBezTo>
                    <a:pt x="55880" y="2016127"/>
                    <a:pt x="0" y="1960247"/>
                    <a:pt x="0" y="189166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299727" y="0"/>
                  </a:lnTo>
                  <a:cubicBezTo>
                    <a:pt x="1368307" y="0"/>
                    <a:pt x="1424187" y="55880"/>
                    <a:pt x="1424187" y="124460"/>
                  </a:cubicBezTo>
                  <a:lnTo>
                    <a:pt x="1424187" y="1891667"/>
                  </a:lnTo>
                  <a:cubicBezTo>
                    <a:pt x="1424187" y="1960247"/>
                    <a:pt x="1368307" y="2016127"/>
                    <a:pt x="1299727" y="2016127"/>
                  </a:cubicBezTo>
                  <a:close/>
                </a:path>
              </a:pathLst>
            </a:custGeom>
            <a:solidFill>
              <a:srgbClr val="A8CBBD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7117281" y="3652104"/>
            <a:ext cx="2971982" cy="2942263"/>
          </a:xfrm>
          <a:custGeom>
            <a:avLst/>
            <a:gdLst/>
            <a:ahLst/>
            <a:cxnLst/>
            <a:rect l="l" t="t" r="r" b="b"/>
            <a:pathLst>
              <a:path w="2971982" h="2942263">
                <a:moveTo>
                  <a:pt x="0" y="0"/>
                </a:moveTo>
                <a:lnTo>
                  <a:pt x="2971983" y="0"/>
                </a:lnTo>
                <a:lnTo>
                  <a:pt x="2971983" y="2942263"/>
                </a:lnTo>
                <a:lnTo>
                  <a:pt x="0" y="2942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050767" y="438150"/>
            <a:ext cx="324777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Bosk"/>
                <a:ea typeface="Bosk"/>
                <a:cs typeface="Bosk"/>
                <a:sym typeface="Bosk"/>
              </a:rPr>
              <a:t>IN SCOPE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32287" y="623220"/>
            <a:ext cx="357429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Bosk"/>
                <a:ea typeface="Bosk"/>
                <a:cs typeface="Bosk"/>
                <a:sym typeface="Bosk"/>
              </a:rPr>
              <a:t>OUT SCOPE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29159" y="4300706"/>
            <a:ext cx="324777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Bosk"/>
                <a:ea typeface="Bosk"/>
                <a:cs typeface="Bosk"/>
                <a:sym typeface="Bosk"/>
              </a:rPr>
              <a:t>SCOPE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9701" y="1900610"/>
            <a:ext cx="6300405" cy="744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Impl</a:t>
            </a:r>
            <a:r>
              <a:rPr lang="en-US" sz="3000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ementation of the Chain of Diagnosis (CoD) framework for interpretable and transparent disease diagnosis.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Use of synthetic patient data generated through GPT-4 to ensure data privacy and scalability.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Integration of a disease knowledge base covering 9,600 diseases for reasoning and retrieval.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569230" y="2789170"/>
            <a:ext cx="6300405" cy="478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I</a:t>
            </a:r>
            <a:r>
              <a:rPr lang="en-US" sz="3000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ntegration with real-world hospital systems or Electronic Health Records (EHR).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Regulatory validation such as FDA or HIPAA compliance.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Deployment for real patient consultations or clinical trials at this stage.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2774" y="538480"/>
            <a:ext cx="12518489" cy="1123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PROPOSED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2774" y="2107536"/>
            <a:ext cx="17062452" cy="757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3096" b="1">
                <a:solidFill>
                  <a:srgbClr val="034172"/>
                </a:solidFill>
                <a:latin typeface="Livvic Bold"/>
                <a:ea typeface="Livvic Bold"/>
                <a:cs typeface="Livvic Bold"/>
                <a:sym typeface="Livvic Bold"/>
              </a:rPr>
              <a:t>Core Idea:</a:t>
            </a:r>
          </a:p>
          <a:p>
            <a:pPr marL="668592" lvl="1" indent="-334296" algn="l">
              <a:lnSpc>
                <a:spcPts val="4335"/>
              </a:lnSpc>
              <a:buFont typeface="Arial"/>
              <a:buChar char="•"/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 Building upon the base paper Chain of Diagnosis (CoD), we propose an enhanced framework called CoD++, which extends the original model to support multimodal, multilingual, and adaptive reasoning. The aim is to make diagnosis not only interpretable but also inclusive, dynamic, and practically deployable.</a:t>
            </a:r>
          </a:p>
          <a:p>
            <a:pPr algn="l">
              <a:lnSpc>
                <a:spcPts val="4335"/>
              </a:lnSpc>
            </a:pPr>
            <a:endParaRPr lang="en-US" sz="3096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l">
              <a:lnSpc>
                <a:spcPts val="4335"/>
              </a:lnSpc>
            </a:pPr>
            <a:r>
              <a:rPr lang="en-US" sz="3096" b="1">
                <a:solidFill>
                  <a:srgbClr val="034172"/>
                </a:solidFill>
                <a:latin typeface="Livvic Bold"/>
                <a:ea typeface="Livvic Bold"/>
                <a:cs typeface="Livvic Bold"/>
                <a:sym typeface="Livvic Bold"/>
              </a:rPr>
              <a:t>Key Enhancements:</a:t>
            </a:r>
          </a:p>
          <a:p>
            <a:pPr marL="668592" lvl="1" indent="-334296" algn="l">
              <a:lnSpc>
                <a:spcPts val="4335"/>
              </a:lnSpc>
              <a:buAutoNum type="arabicPeriod"/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Multilingual Support: Extend CoD to handle multiple languages for diverse global healthcare applications.</a:t>
            </a:r>
          </a:p>
          <a:p>
            <a:pPr marL="668592" lvl="1" indent="-334296" algn="l">
              <a:lnSpc>
                <a:spcPts val="4335"/>
              </a:lnSpc>
              <a:buAutoNum type="arabicPeriod"/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Multimodal Integration: Incorporate medical images, reports, and lab data alongside textual symptoms for richer diagnostic reasoning.</a:t>
            </a:r>
          </a:p>
          <a:p>
            <a:pPr marL="668592" lvl="1" indent="-334296" algn="l">
              <a:lnSpc>
                <a:spcPts val="4335"/>
              </a:lnSpc>
              <a:buAutoNum type="arabicPeriod"/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Interactive Feedback Loop: Enable doctors to refine or correct AI reasoning in real-time, improving model learning and accuracy.</a:t>
            </a:r>
          </a:p>
          <a:p>
            <a:pPr algn="l">
              <a:lnSpc>
                <a:spcPts val="4335"/>
              </a:lnSpc>
            </a:pPr>
            <a:endParaRPr lang="en-US" sz="3096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87754" y="94727"/>
            <a:ext cx="3613028" cy="10097546"/>
          </a:xfrm>
          <a:custGeom>
            <a:avLst/>
            <a:gdLst/>
            <a:ahLst/>
            <a:cxnLst/>
            <a:rect l="l" t="t" r="r" b="b"/>
            <a:pathLst>
              <a:path w="3613028" h="10097546">
                <a:moveTo>
                  <a:pt x="0" y="0"/>
                </a:moveTo>
                <a:lnTo>
                  <a:pt x="3613028" y="0"/>
                </a:lnTo>
                <a:lnTo>
                  <a:pt x="3613028" y="10097546"/>
                </a:lnTo>
                <a:lnTo>
                  <a:pt x="0" y="10097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626622" y="237602"/>
            <a:ext cx="12518489" cy="1123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5392" y="1670386"/>
            <a:ext cx="11891890" cy="8122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8592" lvl="1" indent="-334296" algn="l">
              <a:lnSpc>
                <a:spcPts val="4335"/>
              </a:lnSpc>
              <a:spcBef>
                <a:spcPct val="0"/>
              </a:spcBef>
              <a:buFont typeface="Arial"/>
              <a:buChar char="•"/>
            </a:pPr>
            <a:r>
              <a:rPr lang="en-US" sz="3096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User</a:t>
            </a:r>
            <a:r>
              <a:rPr lang="en-US" sz="3096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 Input: The user provides their symptoms (text or voice).</a:t>
            </a:r>
          </a:p>
          <a:p>
            <a:pPr marL="668592" lvl="1" indent="-334296" algn="l">
              <a:lnSpc>
                <a:spcPts val="4335"/>
              </a:lnSpc>
              <a:spcBef>
                <a:spcPct val="0"/>
              </a:spcBef>
              <a:buFont typeface="Arial"/>
              <a:buChar char="•"/>
            </a:pPr>
            <a:r>
              <a:rPr lang="en-US" sz="3096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Symptom Preprocessing: The system cleans, translates, and standardizes the user's symptom description.</a:t>
            </a:r>
          </a:p>
          <a:p>
            <a:pPr marL="668592" lvl="1" indent="-334296" algn="l">
              <a:lnSpc>
                <a:spcPts val="4335"/>
              </a:lnSpc>
              <a:spcBef>
                <a:spcPct val="0"/>
              </a:spcBef>
              <a:buFont typeface="Arial"/>
              <a:buChar char="•"/>
            </a:pPr>
            <a:r>
              <a:rPr lang="en-US" sz="3096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Retriever: This step searches a medical database (KB) to find diseases that match the user's symptoms.</a:t>
            </a:r>
          </a:p>
          <a:p>
            <a:pPr marL="668592" lvl="1" indent="-334296" algn="l">
              <a:lnSpc>
                <a:spcPts val="4335"/>
              </a:lnSpc>
              <a:spcBef>
                <a:spcPct val="0"/>
              </a:spcBef>
              <a:buFont typeface="Arial"/>
              <a:buChar char="•"/>
            </a:pPr>
            <a:r>
              <a:rPr lang="en-US" sz="3096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Knowledge Augmentation: It gathers extra details about the matched diseases and adds related medical dialogue examples.</a:t>
            </a:r>
          </a:p>
          <a:p>
            <a:pPr marL="668592" lvl="1" indent="-334296" algn="l">
              <a:lnSpc>
                <a:spcPts val="4335"/>
              </a:lnSpc>
              <a:spcBef>
                <a:spcPct val="0"/>
              </a:spcBef>
              <a:buFont typeface="Arial"/>
              <a:buChar char="•"/>
            </a:pPr>
            <a:r>
              <a:rPr lang="en-US" sz="3096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Reasoner: An AI (LLM) analyzes all the information to determine possible diagnoses and how confident it is in each.</a:t>
            </a:r>
          </a:p>
          <a:p>
            <a:pPr marL="668592" lvl="1" indent="-334296" algn="l">
              <a:lnSpc>
                <a:spcPts val="4335"/>
              </a:lnSpc>
              <a:spcBef>
                <a:spcPct val="0"/>
              </a:spcBef>
              <a:buFont typeface="Arial"/>
              <a:buChar char="•"/>
            </a:pPr>
            <a:r>
              <a:rPr lang="en-US" sz="3096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Controller: This decides whether to give an answer now ("Stop") or ask the user for more information ("Ask Next").</a:t>
            </a:r>
          </a:p>
          <a:p>
            <a:pPr marL="668592" lvl="1" indent="-334296" algn="l">
              <a:lnSpc>
                <a:spcPts val="4335"/>
              </a:lnSpc>
              <a:spcBef>
                <a:spcPct val="0"/>
              </a:spcBef>
              <a:buFont typeface="Arial"/>
              <a:buChar char="•"/>
            </a:pPr>
            <a:r>
              <a:rPr lang="en-US" sz="3096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Final Diagnosis: This step packages the final answer, including the reasoning and confidence level.</a:t>
            </a:r>
          </a:p>
          <a:p>
            <a:pPr marL="668592" lvl="1" indent="-334296" algn="l">
              <a:lnSpc>
                <a:spcPts val="4335"/>
              </a:lnSpc>
              <a:spcBef>
                <a:spcPct val="0"/>
              </a:spcBef>
              <a:buFont typeface="Arial"/>
              <a:buChar char="•"/>
            </a:pPr>
            <a:r>
              <a:rPr lang="en-US" sz="3096" u="none" strike="noStrike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Output to User: The final diagnosis is shown to the user as text.</a:t>
            </a:r>
          </a:p>
          <a:p>
            <a:pPr marL="0" lvl="0" indent="0" algn="l">
              <a:lnSpc>
                <a:spcPts val="4335"/>
              </a:lnSpc>
              <a:spcBef>
                <a:spcPct val="0"/>
              </a:spcBef>
            </a:pPr>
            <a:endParaRPr lang="en-US" sz="3096" u="none" strike="noStrike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99391" y="832646"/>
            <a:ext cx="12003389" cy="101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89"/>
              </a:lnSpc>
            </a:pPr>
            <a:r>
              <a:rPr lang="en-US" sz="7189" b="1">
                <a:solidFill>
                  <a:srgbClr val="034172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348" y="2585950"/>
            <a:ext cx="16687304" cy="88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</a:pPr>
            <a:r>
              <a:rPr lang="en-US" sz="2906" dirty="0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The Ch</a:t>
            </a:r>
            <a:r>
              <a:rPr lang="en-US" sz="2906" u="none" strike="noStrike" dirty="0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ain of Diagnosis (</a:t>
            </a:r>
            <a:r>
              <a:rPr lang="en-US" sz="2906" u="none" strike="noStrike" dirty="0" err="1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CoD</a:t>
            </a:r>
            <a:r>
              <a:rPr lang="en-US" sz="2906" u="none" strike="noStrike" dirty="0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) framework represents a major step toward making AI-driven medical diagnosis transparent and interpretable. It mirrors the clinical reasoning process of doctors, allowing AI systems to justify their decisions through logical, step-by-step explanations.</a:t>
            </a:r>
          </a:p>
          <a:p>
            <a:pPr algn="ctr">
              <a:lnSpc>
                <a:spcPts val="4068"/>
              </a:lnSpc>
            </a:pPr>
            <a:endParaRPr lang="en-US" sz="2906" u="none" strike="noStrike" dirty="0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ctr">
              <a:lnSpc>
                <a:spcPts val="4068"/>
              </a:lnSpc>
            </a:pPr>
            <a:r>
              <a:rPr lang="en-US" sz="2906" u="none" strike="noStrike" dirty="0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Our extended version, </a:t>
            </a:r>
            <a:r>
              <a:rPr lang="en-US" sz="2906" u="none" strike="noStrike" dirty="0" err="1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CoD</a:t>
            </a:r>
            <a:r>
              <a:rPr lang="en-US" sz="2906" u="none" strike="noStrike" dirty="0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++, advances this concept by introducing multilingual, multimodal, and real-world data integration, enabling the system to handle diverse clinical inputs such as text, reports, and images across multiple languages with interactive feedback </a:t>
            </a:r>
          </a:p>
          <a:p>
            <a:pPr algn="ctr">
              <a:lnSpc>
                <a:spcPts val="4068"/>
              </a:lnSpc>
            </a:pPr>
            <a:endParaRPr lang="en-US" sz="2906" u="none" strike="noStrike" dirty="0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ctr">
              <a:lnSpc>
                <a:spcPts val="4068"/>
              </a:lnSpc>
            </a:pPr>
            <a:r>
              <a:rPr lang="en-US" sz="2906" u="none" strike="noStrike" dirty="0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This approach not only improves </a:t>
            </a:r>
            <a:r>
              <a:rPr lang="en-US" sz="2906" u="none" strike="noStrike" dirty="0">
                <a:solidFill>
                  <a:schemeClr val="tx2"/>
                </a:solidFill>
                <a:latin typeface="Livvic"/>
                <a:ea typeface="Livvic"/>
                <a:cs typeface="Livvic"/>
                <a:sym typeface="Livvic"/>
              </a:rPr>
              <a:t>diagnostic</a:t>
            </a:r>
            <a:r>
              <a:rPr lang="en-US" sz="2906" u="none" strike="noStrike" dirty="0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 reliability and transparency but also strengthens collaboration between clinicians and AI systems</a:t>
            </a:r>
            <a:endParaRPr lang="en-US" sz="2906" dirty="0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ctr">
              <a:lnSpc>
                <a:spcPts val="4068"/>
              </a:lnSpc>
            </a:pPr>
            <a:endParaRPr lang="en-US" sz="2906" dirty="0">
              <a:solidFill>
                <a:schemeClr val="tx2"/>
              </a:solidFill>
              <a:latin typeface="Livvic"/>
              <a:sym typeface="Livvic"/>
            </a:endParaRPr>
          </a:p>
          <a:p>
            <a:pPr algn="ctr">
              <a:lnSpc>
                <a:spcPts val="4068"/>
              </a:lnSpc>
            </a:pPr>
            <a:r>
              <a:rPr lang="en-US" sz="2910" dirty="0">
                <a:solidFill>
                  <a:schemeClr val="tx2"/>
                </a:solidFill>
                <a:latin typeface="Livvic" panose="020F0502020204030204" pitchFamily="2" charset="0"/>
              </a:rPr>
              <a:t>By the next presentation, we aim to have the full </a:t>
            </a:r>
            <a:r>
              <a:rPr lang="en-US" sz="2910" dirty="0" err="1">
                <a:solidFill>
                  <a:schemeClr val="tx2"/>
                </a:solidFill>
                <a:latin typeface="Livvic" panose="020F0502020204030204" pitchFamily="2" charset="0"/>
              </a:rPr>
              <a:t>MedPathAI</a:t>
            </a:r>
            <a:r>
              <a:rPr lang="en-US" sz="2910" dirty="0">
                <a:solidFill>
                  <a:schemeClr val="tx2"/>
                </a:solidFill>
                <a:latin typeface="Livvic" panose="020F0502020204030204" pitchFamily="2" charset="0"/>
              </a:rPr>
              <a:t> prototype implemented, fine-tuned on the </a:t>
            </a:r>
            <a:r>
              <a:rPr lang="en-US" sz="2910" dirty="0" err="1">
                <a:solidFill>
                  <a:schemeClr val="tx2"/>
                </a:solidFill>
                <a:latin typeface="Livvic" panose="020F0502020204030204" pitchFamily="2" charset="0"/>
              </a:rPr>
              <a:t>MedDialog</a:t>
            </a:r>
            <a:r>
              <a:rPr lang="en-US" sz="2910" dirty="0">
                <a:solidFill>
                  <a:schemeClr val="tx2"/>
                </a:solidFill>
                <a:latin typeface="Livvic" panose="020F0502020204030204" pitchFamily="2" charset="0"/>
              </a:rPr>
              <a:t> dataset, and rigorously evaluated for both low latency and improved diagnostic accuracy.</a:t>
            </a:r>
            <a:br>
              <a:rPr lang="en-US" sz="3200" dirty="0"/>
            </a:br>
            <a:endParaRPr lang="en-US" sz="2906" u="none" strike="noStrike" dirty="0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ctr">
              <a:lnSpc>
                <a:spcPts val="4068"/>
              </a:lnSpc>
            </a:pPr>
            <a:endParaRPr lang="en-US" sz="2906" dirty="0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ctr">
              <a:lnSpc>
                <a:spcPts val="4068"/>
              </a:lnSpc>
            </a:pPr>
            <a:endParaRPr lang="en-US" sz="2906" u="none" strike="noStrike" dirty="0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857</Words>
  <Application>Microsoft Office PowerPoint</Application>
  <PresentationFormat>Custom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Hagrid Ultra-Bold</vt:lpstr>
      <vt:lpstr>Bosk</vt:lpstr>
      <vt:lpstr>Public Sans Bold</vt:lpstr>
      <vt:lpstr>Livvic Bold</vt:lpstr>
      <vt:lpstr>Gotham</vt:lpstr>
      <vt:lpstr>Livvic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Larana consultation Services</dc:title>
  <cp:lastModifiedBy>Md Aafthab</cp:lastModifiedBy>
  <cp:revision>2</cp:revision>
  <dcterms:created xsi:type="dcterms:W3CDTF">2006-08-16T00:00:00Z</dcterms:created>
  <dcterms:modified xsi:type="dcterms:W3CDTF">2025-10-25T10:53:08Z</dcterms:modified>
  <dc:identifier>DAG2yS10b3Y</dc:identifier>
</cp:coreProperties>
</file>